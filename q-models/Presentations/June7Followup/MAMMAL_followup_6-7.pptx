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9FF"/>
    <a:srgbClr val="0A0B2B"/>
    <a:srgbClr val="7300BF"/>
    <a:srgbClr val="F0F0F0"/>
    <a:srgbClr val="2D0068"/>
    <a:srgbClr val="C20CA9"/>
    <a:srgbClr val="F9788B"/>
    <a:srgbClr val="7E00C8"/>
    <a:srgbClr val="D50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8" autoAdjust="0"/>
    <p:restoredTop sz="96301"/>
  </p:normalViewPr>
  <p:slideViewPr>
    <p:cSldViewPr snapToGrid="0">
      <p:cViewPr varScale="1">
        <p:scale>
          <a:sx n="170" d="100"/>
          <a:sy n="170" d="100"/>
        </p:scale>
        <p:origin x="488" y="176"/>
      </p:cViewPr>
      <p:guideLst>
        <p:guide orient="horz" pos="82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28800" cy="18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ndi, Rohan" userId="65f5d5a5-1fc0-4921-a1eb-63a8b848d1da" providerId="ADAL" clId="{E221B621-5161-50FC-8628-47520E375B89}"/>
    <pc:docChg chg="modSld">
      <pc:chgData name="Gondi, Rohan" userId="65f5d5a5-1fc0-4921-a1eb-63a8b848d1da" providerId="ADAL" clId="{E221B621-5161-50FC-8628-47520E375B89}" dt="2026-06-07T20:23:46.965" v="0" actId="113"/>
      <pc:docMkLst>
        <pc:docMk/>
      </pc:docMkLst>
      <pc:sldChg chg="modSp mod">
        <pc:chgData name="Gondi, Rohan" userId="65f5d5a5-1fc0-4921-a1eb-63a8b848d1da" providerId="ADAL" clId="{E221B621-5161-50FC-8628-47520E375B89}" dt="2026-06-07T20:23:46.965" v="0" actId="113"/>
        <pc:sldMkLst>
          <pc:docMk/>
          <pc:sldMk cId="0" sldId="260"/>
        </pc:sldMkLst>
        <pc:spChg chg="mod">
          <ac:chgData name="Gondi, Rohan" userId="65f5d5a5-1fc0-4921-a1eb-63a8b848d1da" providerId="ADAL" clId="{E221B621-5161-50FC-8628-47520E375B89}" dt="2026-06-07T20:23:46.965" v="0" actId="113"/>
          <ac:spMkLst>
            <pc:docMk/>
            <pc:sldMk cId="0" sldId="260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B9F0F-9FAF-4654-81C0-997662984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47EF8-58AC-434E-B401-82DF46772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7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0">
              <a:srgbClr val="7300BF"/>
            </a:gs>
            <a:gs pos="50000">
              <a:schemeClr val="accent2"/>
            </a:gs>
            <a:gs pos="100000">
              <a:schemeClr val="accent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81;p19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21646EBB-B513-4418-98C2-DDA88E23534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5827" t="5879" r="14538" b="33444"/>
          <a:stretch/>
        </p:blipFill>
        <p:spPr>
          <a:xfrm>
            <a:off x="0" y="0"/>
            <a:ext cx="63193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5324" y="171450"/>
            <a:ext cx="4295776" cy="24610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000"/>
            </a:lvl1pPr>
          </a:lstStyle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5324" y="1710928"/>
            <a:ext cx="4295776" cy="4798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/>
          </a:p>
        </p:txBody>
      </p:sp>
      <p:sp>
        <p:nvSpPr>
          <p:cNvPr id="8" name="Google Shape;85;p19">
            <a:extLst>
              <a:ext uri="{FF2B5EF4-FFF2-40B4-BE49-F238E27FC236}">
                <a16:creationId xmlns:a16="http://schemas.microsoft.com/office/drawing/2014/main" id="{C9409916-F302-F60A-2BFD-46F837B53905}"/>
              </a:ext>
            </a:extLst>
          </p:cNvPr>
          <p:cNvSpPr/>
          <p:nvPr userDrawn="1"/>
        </p:nvSpPr>
        <p:spPr>
          <a:xfrm>
            <a:off x="4712924" y="4686300"/>
            <a:ext cx="1706675" cy="23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0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" name="Google Shape;86;p19">
            <a:extLst>
              <a:ext uri="{FF2B5EF4-FFF2-40B4-BE49-F238E27FC236}">
                <a16:creationId xmlns:a16="http://schemas.microsoft.com/office/drawing/2014/main" id="{0F0925D2-B458-3186-8A12-1EB42B34AF29}"/>
              </a:ext>
            </a:extLst>
          </p:cNvPr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Google Shape;84;p19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C584577B-E6A2-1481-DB58-89C2C97ABD2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75648" y="319642"/>
            <a:ext cx="2444878" cy="21259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199B41F-6BAD-CF05-6289-16A50765007B}"/>
              </a:ext>
            </a:extLst>
          </p:cNvPr>
          <p:cNvSpPr txBox="1">
            <a:spLocks/>
          </p:cNvSpPr>
          <p:nvPr userDrawn="1"/>
        </p:nvSpPr>
        <p:spPr>
          <a:xfrm>
            <a:off x="4712924" y="4714833"/>
            <a:ext cx="1706675" cy="182233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" name="Google Shape;177;p22">
            <a:extLst>
              <a:ext uri="{FF2B5EF4-FFF2-40B4-BE49-F238E27FC236}">
                <a16:creationId xmlns:a16="http://schemas.microsoft.com/office/drawing/2014/main" id="{164DE7FE-9CA0-60B4-B6BE-1EF47824F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92842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544" userDrawn="1">
          <p15:clr>
            <a:srgbClr val="FBAE40"/>
          </p15:clr>
        </p15:guide>
        <p15:guide id="3" orient="horz" pos="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Slide">
    <p:bg>
      <p:bgPr>
        <a:gradFill>
          <a:gsLst>
            <a:gs pos="0">
              <a:srgbClr val="F9788B"/>
            </a:gs>
            <a:gs pos="50000">
              <a:srgbClr val="C20CA9"/>
            </a:gs>
            <a:gs pos="100000">
              <a:srgbClr val="2D006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81;p19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410AA93B-CCC3-BC1F-0F79-D287214039BC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29000"/>
          </a:blip>
          <a:srcRect l="25827" t="5879" r="14538" b="33444"/>
          <a:stretch/>
        </p:blipFill>
        <p:spPr>
          <a:xfrm>
            <a:off x="0" y="0"/>
            <a:ext cx="63193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078B6F-1BC2-56EC-7966-F66EEF04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70" y="825500"/>
            <a:ext cx="8573246" cy="291806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/>
          </a:p>
        </p:txBody>
      </p:sp>
      <p:sp>
        <p:nvSpPr>
          <p:cNvPr id="11" name="Google Shape;177;p22">
            <a:extLst>
              <a:ext uri="{FF2B5EF4-FFF2-40B4-BE49-F238E27FC236}">
                <a16:creationId xmlns:a16="http://schemas.microsoft.com/office/drawing/2014/main" id="{026BA60A-8471-BBFA-5641-726CD0B074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ECD58-051E-0945-0179-DC6C41EAFD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434AFC-8803-F114-774A-802BE06C30B7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1377656"/>
            <a:ext cx="8503920" cy="336579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5693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Blank White Layou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2986"/>
            <a:ext cx="4873640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12035" y="742950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1047750"/>
            <a:ext cx="8503920" cy="364050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1450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1450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5015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Freestyle box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4672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212" y="742950"/>
            <a:ext cx="8783637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91F317-F8CF-5DF6-6BE8-7D3F3D09B0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861225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freesty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7547" y="253694"/>
            <a:ext cx="4859704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213" y="742951"/>
            <a:ext cx="4249532" cy="4000500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C584FF4-C367-F16B-6FD5-7C88D1381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07353" y="742951"/>
            <a:ext cx="4249532" cy="4000500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7883E-454F-001D-AB73-2703F93E34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337012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880" userDrawn="1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freesty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4775" y="252986"/>
            <a:ext cx="4858826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2279" y="742949"/>
            <a:ext cx="2849216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C584FF4-C367-F16B-6FD5-7C88D1381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10359" y="742950"/>
            <a:ext cx="2849217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C99FC20-90F7-311A-8234-2AA65F17970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147391" y="742949"/>
            <a:ext cx="2849217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00106D-1D23-5131-A7D7-970944ADA8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774410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880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box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073F04-1418-4550-E3D2-83B61351325D}"/>
              </a:ext>
            </a:extLst>
          </p:cNvPr>
          <p:cNvSpPr/>
          <p:nvPr userDrawn="1"/>
        </p:nvSpPr>
        <p:spPr>
          <a:xfrm>
            <a:off x="176212" y="749300"/>
            <a:ext cx="878363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463" y="252986"/>
            <a:ext cx="4873389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763768-4B02-E837-E0DC-8FCDAE98BBB9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1216136"/>
            <a:ext cx="8503920" cy="343407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76BF75E-0B6C-39F5-CB01-3165BA6FA5A7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12035" y="866432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7BE7CF0-78E2-DFE6-9947-C22AB446B8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4" name="Google Shape;387;p31">
            <a:extLst>
              <a:ext uri="{FF2B5EF4-FFF2-40B4-BE49-F238E27FC236}">
                <a16:creationId xmlns:a16="http://schemas.microsoft.com/office/drawing/2014/main" id="{18DA684B-B59E-6B3F-1CE2-A097189077F6}"/>
              </a:ext>
            </a:extLst>
          </p:cNvPr>
          <p:cNvSpPr/>
          <p:nvPr userDrawn="1"/>
        </p:nvSpPr>
        <p:spPr>
          <a:xfrm flipH="1">
            <a:off x="302154" y="1090668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454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Box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9300"/>
            <a:ext cx="878363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2986"/>
            <a:ext cx="4867014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ACCFDBE-F468-7F49-B74A-C4F9AB99F2E0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852170"/>
            <a:ext cx="8503920" cy="382322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44541-40B9-BAD1-9877-41A156FE618A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C1A4F52-28A5-6E09-3809-367BFBFE6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074117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9300"/>
            <a:ext cx="8783637" cy="399415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2154" y="1101657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bg1"/>
              </a:solidFill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21974" y="878345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4A2DB-0B5C-6D48-A66F-E0145714C18C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E76F8E9-804E-7A10-6E5B-FDEDE6716426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F9A66B-90AA-FEDC-7ECC-C92736A49BCD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02154" y="1249197"/>
            <a:ext cx="8503920" cy="339872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6219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2986"/>
            <a:ext cx="4866737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2950"/>
            <a:ext cx="8783637" cy="400228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58D22-2191-DE43-CF41-3C42B6A7E3F8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780258C-05B6-1DB1-91AF-2BC519F255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098405-DDA1-1B6E-0AEE-B8BEC8673E16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870807"/>
            <a:ext cx="8503920" cy="381744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941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744" userDrawn="1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7565" y="252986"/>
            <a:ext cx="487562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2950"/>
            <a:ext cx="878363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2154" y="1098168"/>
            <a:ext cx="850392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4" y="873385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75A8-2E5B-FB34-B2E6-69E534935C55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3E200A-1F4E-5BB1-5D52-59A812975F6A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02154" y="1227912"/>
            <a:ext cx="8503920" cy="342011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9686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 userDrawn="1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1215" y="252986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2950"/>
            <a:ext cx="878363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3906882-30A6-9701-FEA8-AC118A6316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44B5-B2AF-24A3-9029-18E2896DC364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870808"/>
            <a:ext cx="8503920" cy="381744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7804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boxes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83835" y="750564"/>
            <a:ext cx="4304346" cy="3997675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18453" y="1098485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9300"/>
            <a:ext cx="4296723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Google Shape;387;p31">
            <a:extLst>
              <a:ext uri="{FF2B5EF4-FFF2-40B4-BE49-F238E27FC236}">
                <a16:creationId xmlns:a16="http://schemas.microsoft.com/office/drawing/2014/main" id="{D5E18D94-A083-16B9-5300-58A65E931F30}"/>
              </a:ext>
            </a:extLst>
          </p:cNvPr>
          <p:cNvSpPr/>
          <p:nvPr userDrawn="1"/>
        </p:nvSpPr>
        <p:spPr>
          <a:xfrm flipH="1">
            <a:off x="4806633" y="1092131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ACCFDBE-F468-7F49-B74A-C4F9AB99F2E0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265981"/>
            <a:ext cx="3977640" cy="3448495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879295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16E64F-AEC3-3E2B-733F-F4B9D1EC4649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4729437" y="875515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0E2A0-ED58-A017-89D1-F72C92F6487E}"/>
              </a:ext>
            </a:extLst>
          </p:cNvPr>
          <p:cNvSpPr>
            <a:spLocks noGrp="1"/>
          </p:cNvSpPr>
          <p:nvPr userDrawn="1">
            <p:ph idx="16"/>
          </p:nvPr>
        </p:nvSpPr>
        <p:spPr>
          <a:xfrm>
            <a:off x="4800600" y="1259632"/>
            <a:ext cx="3977640" cy="340232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9A1E6B-BF7D-3C44-73BE-45BD4D7AAEF0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43750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boxes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2950"/>
            <a:ext cx="4296723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2950"/>
            <a:ext cx="4304346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0016E4-3696-8FDB-6865-0CBA0D0D0BA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8453" y="849859"/>
            <a:ext cx="3977640" cy="385219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06AF8-14E1-2895-B2C4-779649CDF76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35854" y="849859"/>
            <a:ext cx="3977640" cy="385219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228AA01-B7EF-DF8C-BA95-892D1C03E0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19987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9300"/>
            <a:ext cx="4304346" cy="399415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18453" y="1134998"/>
            <a:ext cx="3977640" cy="7477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9300"/>
            <a:ext cx="4296723" cy="399415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Google Shape;387;p31">
            <a:extLst>
              <a:ext uri="{FF2B5EF4-FFF2-40B4-BE49-F238E27FC236}">
                <a16:creationId xmlns:a16="http://schemas.microsoft.com/office/drawing/2014/main" id="{D5E18D94-A083-16B9-5300-58A65E931F30}"/>
              </a:ext>
            </a:extLst>
          </p:cNvPr>
          <p:cNvSpPr/>
          <p:nvPr userDrawn="1"/>
        </p:nvSpPr>
        <p:spPr>
          <a:xfrm flipH="1">
            <a:off x="4806633" y="1134998"/>
            <a:ext cx="3977640" cy="7477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6" y="873001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16E64F-AEC3-3E2B-733F-F4B9D1EC4649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4700216" y="873597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417F77-B8E7-483A-7473-7FD433E5E65D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85A44-CF20-DF73-DBDA-0D9869D700B9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502493"/>
            <a:ext cx="3977640" cy="3142650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5154E8-4F19-1BF0-7A1A-7A10F0BABD18}"/>
              </a:ext>
            </a:extLst>
          </p:cNvPr>
          <p:cNvSpPr>
            <a:spLocks noGrp="1"/>
          </p:cNvSpPr>
          <p:nvPr userDrawn="1">
            <p:ph idx="16"/>
          </p:nvPr>
        </p:nvSpPr>
        <p:spPr>
          <a:xfrm>
            <a:off x="4835854" y="1502493"/>
            <a:ext cx="3977640" cy="3142650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Google Shape;387;p31">
            <a:extLst>
              <a:ext uri="{FF2B5EF4-FFF2-40B4-BE49-F238E27FC236}">
                <a16:creationId xmlns:a16="http://schemas.microsoft.com/office/drawing/2014/main" id="{6AA66ACE-883F-24F5-001A-E61877696BBD}"/>
              </a:ext>
            </a:extLst>
          </p:cNvPr>
          <p:cNvSpPr/>
          <p:nvPr userDrawn="1"/>
        </p:nvSpPr>
        <p:spPr>
          <a:xfrm flipH="1">
            <a:off x="318453" y="1092135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4" name="Google Shape;387;p31">
            <a:extLst>
              <a:ext uri="{FF2B5EF4-FFF2-40B4-BE49-F238E27FC236}">
                <a16:creationId xmlns:a16="http://schemas.microsoft.com/office/drawing/2014/main" id="{1EA811B7-1996-6480-197E-FE59888D3F75}"/>
              </a:ext>
            </a:extLst>
          </p:cNvPr>
          <p:cNvSpPr/>
          <p:nvPr userDrawn="1"/>
        </p:nvSpPr>
        <p:spPr>
          <a:xfrm flipH="1">
            <a:off x="4806633" y="1092131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19345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8701" y="252986"/>
            <a:ext cx="4864900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2950"/>
            <a:ext cx="4304346" cy="400228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2950"/>
            <a:ext cx="4296723" cy="400228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54E21D9-F81F-E47C-CA95-B62D62ECDB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7B1A4-F354-F09E-D22B-8D3EB04DC15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8453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9A41D6-9C54-9F19-56B9-2C3433DDBD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35854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772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8325" y="252986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36600"/>
            <a:ext cx="4304346" cy="40068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18453" y="1074673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36600"/>
            <a:ext cx="4296723" cy="40068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Google Shape;387;p31">
            <a:extLst>
              <a:ext uri="{FF2B5EF4-FFF2-40B4-BE49-F238E27FC236}">
                <a16:creationId xmlns:a16="http://schemas.microsoft.com/office/drawing/2014/main" id="{D5E18D94-A083-16B9-5300-58A65E931F30}"/>
              </a:ext>
            </a:extLst>
          </p:cNvPr>
          <p:cNvSpPr/>
          <p:nvPr userDrawn="1"/>
        </p:nvSpPr>
        <p:spPr>
          <a:xfrm flipH="1">
            <a:off x="4806633" y="1074673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859419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16E64F-AEC3-3E2B-733F-F4B9D1EC4649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4709559" y="859419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E4DED3E-FEE4-FBFF-8497-921A72AAC344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570852-499F-74BF-A5DC-C7098EA1F543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198854"/>
            <a:ext cx="3977640" cy="346470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578C3B-C9D6-A4FF-0747-FE4AEADE4E50}"/>
              </a:ext>
            </a:extLst>
          </p:cNvPr>
          <p:cNvSpPr>
            <a:spLocks noGrp="1"/>
          </p:cNvSpPr>
          <p:nvPr userDrawn="1">
            <p:ph idx="16"/>
          </p:nvPr>
        </p:nvSpPr>
        <p:spPr>
          <a:xfrm>
            <a:off x="4835854" y="1198854"/>
            <a:ext cx="3977640" cy="346470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63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2950"/>
            <a:ext cx="4304346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2950"/>
            <a:ext cx="4296723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33E3207-5037-7780-9CE9-9CA3A1DB8F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1A1BE6-08B1-B72E-587E-71C66D4FF3A2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8453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73C8D-9EE2-07A6-281E-0C26925D0A0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35854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902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7512"/>
            <a:ext cx="284130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BCCAACBF-4AE1-0B46-6D4F-5463D6CAA084}"/>
              </a:ext>
            </a:extLst>
          </p:cNvPr>
          <p:cNvSpPr/>
          <p:nvPr userDrawn="1"/>
        </p:nvSpPr>
        <p:spPr>
          <a:xfrm flipH="1">
            <a:off x="3267212" y="1091935"/>
            <a:ext cx="2625648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1CE802E-24AC-CDC9-E04E-357CB4709CE5}"/>
              </a:ext>
            </a:extLst>
          </p:cNvPr>
          <p:cNvSpPr>
            <a:spLocks noGrp="1" noChangeAspect="1"/>
          </p:cNvSpPr>
          <p:nvPr userDrawn="1">
            <p:ph idx="21"/>
          </p:nvPr>
        </p:nvSpPr>
        <p:spPr>
          <a:xfrm>
            <a:off x="3303543" y="1224721"/>
            <a:ext cx="2552985" cy="343964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8" name="Google Shape;58;p15"/>
          <p:cNvSpPr txBox="1">
            <a:spLocks noGrp="1"/>
          </p:cNvSpPr>
          <p:nvPr userDrawn="1">
            <p:ph type="title"/>
          </p:nvPr>
        </p:nvSpPr>
        <p:spPr>
          <a:xfrm>
            <a:off x="1090246" y="253694"/>
            <a:ext cx="4893427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 userDrawn="1"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 userDrawn="1"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9300"/>
            <a:ext cx="284130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1059" y="1093723"/>
            <a:ext cx="2625648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ACCFDBE-F468-7F49-B74A-C4F9AB99F2E0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18453" y="1224721"/>
            <a:ext cx="2552985" cy="343964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6" y="874964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608493-51EB-091B-5B5D-9B2D72B5A4DD}"/>
              </a:ext>
            </a:extLst>
          </p:cNvPr>
          <p:cNvSpPr>
            <a:spLocks noGrp="1" noChangeAspect="1"/>
          </p:cNvSpPr>
          <p:nvPr userDrawn="1">
            <p:ph type="body" idx="16"/>
          </p:nvPr>
        </p:nvSpPr>
        <p:spPr>
          <a:xfrm>
            <a:off x="3178189" y="873176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7512"/>
            <a:ext cx="284130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95F5EE2A-EF32-300E-B8FC-4CE4AF70D825}"/>
              </a:ext>
            </a:extLst>
          </p:cNvPr>
          <p:cNvSpPr/>
          <p:nvPr userDrawn="1"/>
        </p:nvSpPr>
        <p:spPr>
          <a:xfrm flipH="1">
            <a:off x="6243115" y="1091935"/>
            <a:ext cx="2625648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D5C79A-9DB8-6701-AAE1-542B7C2EFAF8}"/>
              </a:ext>
            </a:extLst>
          </p:cNvPr>
          <p:cNvSpPr>
            <a:spLocks noGrp="1" noChangeAspect="1"/>
          </p:cNvSpPr>
          <p:nvPr userDrawn="1">
            <p:ph type="body" idx="18"/>
          </p:nvPr>
        </p:nvSpPr>
        <p:spPr>
          <a:xfrm>
            <a:off x="6154092" y="873176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14B0DC-942D-A092-6680-68ABC7866F3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D9E22CA-0759-4A26-32E3-FCEBD3D8F63F}"/>
              </a:ext>
            </a:extLst>
          </p:cNvPr>
          <p:cNvSpPr>
            <a:spLocks noGrp="1" noChangeAspect="1"/>
          </p:cNvSpPr>
          <p:nvPr userDrawn="1">
            <p:ph idx="22"/>
          </p:nvPr>
        </p:nvSpPr>
        <p:spPr>
          <a:xfrm>
            <a:off x="6279446" y="1226788"/>
            <a:ext cx="2552985" cy="343964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022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9300"/>
            <a:ext cx="2841307" cy="37338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FCA27A9-D7F8-C3EC-3DF4-02B31FB70E79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6279446" y="886457"/>
            <a:ext cx="2552985" cy="35573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877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51088"/>
            <a:ext cx="2841307" cy="37338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9300"/>
            <a:ext cx="2841307" cy="37338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F993C08-F4A2-7C12-EDCB-199EF58358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6AF623-F6CD-E023-519C-A1DCBB449035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3303543" y="884390"/>
            <a:ext cx="2552985" cy="35573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6E43FC-1732-FE32-4E4B-2DA7759245A1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18453" y="884390"/>
            <a:ext cx="2552985" cy="35573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6324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51088"/>
            <a:ext cx="2841307" cy="3992362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877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 userDrawn="1"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1059" y="1136601"/>
            <a:ext cx="2625648" cy="7473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6" y="874973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9300"/>
            <a:ext cx="2841307" cy="3992362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BCCAACBF-4AE1-0B46-6D4F-5463D6CAA084}"/>
              </a:ext>
            </a:extLst>
          </p:cNvPr>
          <p:cNvSpPr/>
          <p:nvPr userDrawn="1"/>
        </p:nvSpPr>
        <p:spPr>
          <a:xfrm flipH="1">
            <a:off x="3267212" y="1134813"/>
            <a:ext cx="2625648" cy="7473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608493-51EB-091B-5B5D-9B2D72B5A4DD}"/>
              </a:ext>
            </a:extLst>
          </p:cNvPr>
          <p:cNvSpPr>
            <a:spLocks noGrp="1" noChangeAspect="1"/>
          </p:cNvSpPr>
          <p:nvPr userDrawn="1">
            <p:ph type="body" idx="16"/>
          </p:nvPr>
        </p:nvSpPr>
        <p:spPr>
          <a:xfrm>
            <a:off x="3178189" y="87794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9300"/>
            <a:ext cx="2841307" cy="3992362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95F5EE2A-EF32-300E-B8FC-4CE4AF70D825}"/>
              </a:ext>
            </a:extLst>
          </p:cNvPr>
          <p:cNvSpPr/>
          <p:nvPr userDrawn="1"/>
        </p:nvSpPr>
        <p:spPr>
          <a:xfrm flipH="1">
            <a:off x="6243115" y="1134813"/>
            <a:ext cx="2625648" cy="7473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D5C79A-9DB8-6701-AAE1-542B7C2EFAF8}"/>
              </a:ext>
            </a:extLst>
          </p:cNvPr>
          <p:cNvSpPr>
            <a:spLocks noGrp="1" noChangeAspect="1"/>
          </p:cNvSpPr>
          <p:nvPr userDrawn="1">
            <p:ph type="body" idx="18"/>
          </p:nvPr>
        </p:nvSpPr>
        <p:spPr>
          <a:xfrm>
            <a:off x="6154092" y="87794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CBC8DDD-616C-CC31-8644-D69629738D7B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D60E462-98F0-C5BA-3107-A7E2F9CABDC1}"/>
              </a:ext>
            </a:extLst>
          </p:cNvPr>
          <p:cNvSpPr>
            <a:spLocks noGrp="1" noChangeAspect="1"/>
          </p:cNvSpPr>
          <p:nvPr userDrawn="1">
            <p:ph idx="21"/>
          </p:nvPr>
        </p:nvSpPr>
        <p:spPr>
          <a:xfrm>
            <a:off x="3303543" y="1246136"/>
            <a:ext cx="2552985" cy="341685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A0A603-369A-EE16-6838-75D9CB12855F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18453" y="1246136"/>
            <a:ext cx="2552985" cy="341685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26EB69F-54AA-8D77-44A9-2F237490E634}"/>
              </a:ext>
            </a:extLst>
          </p:cNvPr>
          <p:cNvSpPr>
            <a:spLocks noGrp="1" noChangeAspect="1"/>
          </p:cNvSpPr>
          <p:nvPr userDrawn="1">
            <p:ph idx="22"/>
          </p:nvPr>
        </p:nvSpPr>
        <p:spPr>
          <a:xfrm>
            <a:off x="6279446" y="1248203"/>
            <a:ext cx="2552985" cy="341685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387;p31">
            <a:extLst>
              <a:ext uri="{FF2B5EF4-FFF2-40B4-BE49-F238E27FC236}">
                <a16:creationId xmlns:a16="http://schemas.microsoft.com/office/drawing/2014/main" id="{73AE25A3-322F-7F32-D4ED-A9F3D8694824}"/>
              </a:ext>
            </a:extLst>
          </p:cNvPr>
          <p:cNvSpPr/>
          <p:nvPr userDrawn="1"/>
        </p:nvSpPr>
        <p:spPr>
          <a:xfrm flipH="1">
            <a:off x="318453" y="1092135"/>
            <a:ext cx="26060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" name="Google Shape;387;p31">
            <a:extLst>
              <a:ext uri="{FF2B5EF4-FFF2-40B4-BE49-F238E27FC236}">
                <a16:creationId xmlns:a16="http://schemas.microsoft.com/office/drawing/2014/main" id="{BC3C9510-45C6-3163-9CF2-A99455907846}"/>
              </a:ext>
            </a:extLst>
          </p:cNvPr>
          <p:cNvSpPr/>
          <p:nvPr userDrawn="1"/>
        </p:nvSpPr>
        <p:spPr>
          <a:xfrm flipH="1">
            <a:off x="3276283" y="1092131"/>
            <a:ext cx="26060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9" name="Google Shape;387;p31">
            <a:extLst>
              <a:ext uri="{FF2B5EF4-FFF2-40B4-BE49-F238E27FC236}">
                <a16:creationId xmlns:a16="http://schemas.microsoft.com/office/drawing/2014/main" id="{47AA82C4-FD5A-528B-4692-D93D82D2E930}"/>
              </a:ext>
            </a:extLst>
          </p:cNvPr>
          <p:cNvSpPr/>
          <p:nvPr userDrawn="1"/>
        </p:nvSpPr>
        <p:spPr>
          <a:xfrm flipH="1">
            <a:off x="6243946" y="1093258"/>
            <a:ext cx="26060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925675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369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4738"/>
            <a:ext cx="2841307" cy="40005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003C1F-5228-B17F-75F4-29D85656C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4EC602-6FA7-D89B-712C-9C762F086099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330354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5B7F43-1189-E7F2-DBFC-A5103DC33F4F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1845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FCFF9E-6953-13D1-910E-AC97DE3D04BE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6279446" y="892713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2588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2" y="25369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38388"/>
            <a:ext cx="2841307" cy="4005062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1059" y="1079451"/>
            <a:ext cx="2625648" cy="7473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6" y="859415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36600"/>
            <a:ext cx="2841307" cy="4005062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BCCAACBF-4AE1-0B46-6D4F-5463D6CAA084}"/>
              </a:ext>
            </a:extLst>
          </p:cNvPr>
          <p:cNvSpPr/>
          <p:nvPr userDrawn="1"/>
        </p:nvSpPr>
        <p:spPr>
          <a:xfrm flipH="1">
            <a:off x="3267212" y="1077663"/>
            <a:ext cx="2625648" cy="7473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608493-51EB-091B-5B5D-9B2D72B5A4DD}"/>
              </a:ext>
            </a:extLst>
          </p:cNvPr>
          <p:cNvSpPr>
            <a:spLocks noGrp="1" noChangeAspect="1"/>
          </p:cNvSpPr>
          <p:nvPr userDrawn="1">
            <p:ph type="body" idx="16"/>
          </p:nvPr>
        </p:nvSpPr>
        <p:spPr>
          <a:xfrm>
            <a:off x="3178189" y="85762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36600"/>
            <a:ext cx="2841307" cy="4005062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95F5EE2A-EF32-300E-B8FC-4CE4AF70D825}"/>
              </a:ext>
            </a:extLst>
          </p:cNvPr>
          <p:cNvSpPr/>
          <p:nvPr userDrawn="1"/>
        </p:nvSpPr>
        <p:spPr>
          <a:xfrm flipH="1">
            <a:off x="6243115" y="1077663"/>
            <a:ext cx="2625648" cy="7473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D5C79A-9DB8-6701-AAE1-542B7C2EFAF8}"/>
              </a:ext>
            </a:extLst>
          </p:cNvPr>
          <p:cNvSpPr>
            <a:spLocks noGrp="1" noChangeAspect="1"/>
          </p:cNvSpPr>
          <p:nvPr userDrawn="1">
            <p:ph type="body" idx="18"/>
          </p:nvPr>
        </p:nvSpPr>
        <p:spPr>
          <a:xfrm>
            <a:off x="6154092" y="85762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715C5FF-1EE2-8C41-C48A-F5512436C6A4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526711-5492-AF5F-C2A5-724D8805C29B}"/>
              </a:ext>
            </a:extLst>
          </p:cNvPr>
          <p:cNvSpPr>
            <a:spLocks noGrp="1" noChangeAspect="1"/>
          </p:cNvSpPr>
          <p:nvPr userDrawn="1">
            <p:ph idx="21"/>
          </p:nvPr>
        </p:nvSpPr>
        <p:spPr>
          <a:xfrm>
            <a:off x="3303543" y="1205902"/>
            <a:ext cx="2552985" cy="345725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26A34FE-326D-ED8F-5453-88DA550C7A45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18453" y="1205902"/>
            <a:ext cx="2552985" cy="345725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AF066AD-E4B3-895F-B4BE-92068BE9E0CC}"/>
              </a:ext>
            </a:extLst>
          </p:cNvPr>
          <p:cNvSpPr>
            <a:spLocks noGrp="1" noChangeAspect="1"/>
          </p:cNvSpPr>
          <p:nvPr userDrawn="1">
            <p:ph idx="22"/>
          </p:nvPr>
        </p:nvSpPr>
        <p:spPr>
          <a:xfrm>
            <a:off x="6279446" y="1207969"/>
            <a:ext cx="2552985" cy="345725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4070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2" y="25369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4738"/>
            <a:ext cx="284130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CE031DA-A1D0-D9EA-CEF1-B301E56DF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21CAC5-6E9A-95F7-687F-D1C00AE27E42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330354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BCDDFB-8D79-6C55-0C4E-37571F438BA4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1845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67B20F-A16E-43BF-CA4B-B58805B7F07B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6279446" y="892713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7113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stac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3213" y="1122069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1065" y="3165194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2A4A8F-02E4-0113-C912-0BD04DC39F65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2" y="1231031"/>
            <a:ext cx="8495041" cy="122636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C9DA548-130C-C2D6-CFF2-6F32EA05F2F8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903867"/>
            <a:ext cx="8594316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2D2BA5-0701-CC25-4094-2D7BB8CD29F5}"/>
              </a:ext>
            </a:extLst>
          </p:cNvPr>
          <p:cNvSpPr>
            <a:spLocks noGrp="1" noChangeAspect="1"/>
          </p:cNvSpPr>
          <p:nvPr userDrawn="1">
            <p:ph type="body" idx="15"/>
          </p:nvPr>
        </p:nvSpPr>
        <p:spPr>
          <a:xfrm>
            <a:off x="212035" y="2940958"/>
            <a:ext cx="8574438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0C3457-840E-F542-273A-FE505D1779C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3307844"/>
            <a:ext cx="8495041" cy="120696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063ACA0-B307-22B6-74D2-51426AAAF8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275125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stac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A69FDC-C8AA-2149-63D2-7A5D0A407AF5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E2E758-F579-879E-E515-115C8F7476CF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249F379-5E0E-3366-51C2-8B9B97D9C4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BD982D-4FA1-3C68-2308-DBE05751F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5" y="851163"/>
            <a:ext cx="8495041" cy="179628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43660E-1C36-5F02-51E0-28FB1AEB758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7095" y="2920035"/>
            <a:ext cx="8495041" cy="175074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281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4077F5-879D-72FA-4D35-8B6932F811E3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970E5D-768D-7F9B-1DFF-15E53B6C5B7A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3213" y="1122069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1065" y="3196882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C9DA548-130C-C2D6-CFF2-6F32EA05F2F8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897241"/>
            <a:ext cx="8594316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2D2BA5-0701-CC25-4094-2D7BB8CD29F5}"/>
              </a:ext>
            </a:extLst>
          </p:cNvPr>
          <p:cNvSpPr>
            <a:spLocks noGrp="1" noChangeAspect="1"/>
          </p:cNvSpPr>
          <p:nvPr userDrawn="1">
            <p:ph type="body" idx="15"/>
          </p:nvPr>
        </p:nvSpPr>
        <p:spPr>
          <a:xfrm>
            <a:off x="212035" y="2972646"/>
            <a:ext cx="8574438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3D1AD7-F538-4862-5099-B6D904F4DC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B7B2D9-702E-78C9-6B7F-767C4CAA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2" y="1231031"/>
            <a:ext cx="8495041" cy="1395720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A6F391D-65F2-706A-A637-B1ABB51F793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3333837"/>
            <a:ext cx="8495041" cy="134327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3124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4DF2C6-8FC6-A6CD-AEE2-1E723BCDEC8A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BA319E-08F6-51D1-5194-45A1C9501084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054313F-2F90-0FA0-74E1-057979901A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438A88-8377-82FA-6F45-863D3CAC7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2" y="908050"/>
            <a:ext cx="8495041" cy="173940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0181DC-4555-5626-E73C-A0A51C7F10C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2911829"/>
            <a:ext cx="8495041" cy="178717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5018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6EB2D69-69CB-087F-4D95-D0ECCF70523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3619650"/>
            <a:ext cx="8495041" cy="122636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EF42D3-19B6-DB5E-D6A0-112E9B4B86F4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387;p31">
            <a:extLst>
              <a:ext uri="{FF2B5EF4-FFF2-40B4-BE49-F238E27FC236}">
                <a16:creationId xmlns:a16="http://schemas.microsoft.com/office/drawing/2014/main" id="{87C8EE08-7614-CF89-352C-11745015F145}"/>
              </a:ext>
            </a:extLst>
          </p:cNvPr>
          <p:cNvSpPr/>
          <p:nvPr userDrawn="1"/>
        </p:nvSpPr>
        <p:spPr>
          <a:xfrm flipH="1">
            <a:off x="303213" y="1122069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3BD5F0-F6C4-669C-740D-8ADD2A147A27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C6A140C4-ED35-65C1-34C4-A2DCC18D0F8A}"/>
              </a:ext>
            </a:extLst>
          </p:cNvPr>
          <p:cNvSpPr/>
          <p:nvPr userDrawn="1"/>
        </p:nvSpPr>
        <p:spPr>
          <a:xfrm flipH="1">
            <a:off x="301065" y="3165194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1083CE3-1D75-9366-1855-D3363B27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2" y="1231031"/>
            <a:ext cx="8495041" cy="122636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FA4560E-CAFF-05A5-112E-8CD651D3044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5" y="903867"/>
            <a:ext cx="8594316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9449270-8420-EAA8-C793-18562EE33419}"/>
              </a:ext>
            </a:extLst>
          </p:cNvPr>
          <p:cNvSpPr>
            <a:spLocks noGrp="1" noChangeAspect="1"/>
          </p:cNvSpPr>
          <p:nvPr>
            <p:ph type="body" idx="15"/>
          </p:nvPr>
        </p:nvSpPr>
        <p:spPr>
          <a:xfrm>
            <a:off x="212035" y="2940958"/>
            <a:ext cx="8574438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15DBD7F-9A7B-EF2F-F25E-041D256F07F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4479" y="3307844"/>
            <a:ext cx="8495041" cy="120696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Google Shape;58;p15">
            <a:extLst>
              <a:ext uri="{FF2B5EF4-FFF2-40B4-BE49-F238E27FC236}">
                <a16:creationId xmlns:a16="http://schemas.microsoft.com/office/drawing/2014/main" id="{56399BB2-149F-61FA-9725-F2D573E2C9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0ABDE02-2B7D-7C6F-2766-E6AEF3DFB1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10731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2772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9BA644-941A-755B-6DD3-63944DE7B6AB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259DE0-DFD7-CAD4-84E9-A182D8DCCB58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E9572C-AE2C-E8DA-A0D9-D4B74241D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5" y="851163"/>
            <a:ext cx="8495041" cy="179628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8CA08D8-6402-6B8A-42A2-8F3B0F222CC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7095" y="2920035"/>
            <a:ext cx="8495041" cy="175074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oogle Shape;58;p15">
            <a:extLst>
              <a:ext uri="{FF2B5EF4-FFF2-40B4-BE49-F238E27FC236}">
                <a16:creationId xmlns:a16="http://schemas.microsoft.com/office/drawing/2014/main" id="{00EA4E99-1701-0462-33FD-F0F0167F9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C77D2D-97F9-FB31-F485-47B31DBD5A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835619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804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45500"/>
            <a:ext cx="2803207" cy="3997950"/>
          </a:xfrm>
          <a:prstGeom prst="roundRect">
            <a:avLst>
              <a:gd name="adj" fmla="val 42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6947" y="110143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45500"/>
            <a:ext cx="5838505" cy="39979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303532" y="1101431"/>
            <a:ext cx="54864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2A4A8F-02E4-0113-C912-0BD04DC39F65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210392"/>
            <a:ext cx="2523807" cy="34087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8BF979-EE76-DBEB-F683-85D541FEFB81}"/>
              </a:ext>
            </a:extLst>
          </p:cNvPr>
          <p:cNvSpPr>
            <a:spLocks noGrp="1"/>
          </p:cNvSpPr>
          <p:nvPr userDrawn="1">
            <p:ph idx="13"/>
          </p:nvPr>
        </p:nvSpPr>
        <p:spPr>
          <a:xfrm>
            <a:off x="3316232" y="1210392"/>
            <a:ext cx="5497263" cy="3408713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98405C-E3DB-1A59-ACAC-600B94A34FC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6" y="878189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A8044E-7DCD-8E2A-74D0-5BD928E93F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212061" y="878189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24D4E69B-16F9-BE43-8DF4-E683F7F36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DD1773-F947-D381-660B-F2EFFD8EB0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120360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 userDrawn="1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C2328A-B222-3398-E85D-482C70E4766D}"/>
              </a:ext>
            </a:extLst>
          </p:cNvPr>
          <p:cNvSpPr/>
          <p:nvPr userDrawn="1"/>
        </p:nvSpPr>
        <p:spPr>
          <a:xfrm>
            <a:off x="176213" y="745500"/>
            <a:ext cx="2803207" cy="3997950"/>
          </a:xfrm>
          <a:prstGeom prst="roundRect">
            <a:avLst>
              <a:gd name="adj" fmla="val 42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BB9A6C-D5F5-6B21-7BCE-F1DEB46D886B}"/>
              </a:ext>
            </a:extLst>
          </p:cNvPr>
          <p:cNvSpPr/>
          <p:nvPr userDrawn="1"/>
        </p:nvSpPr>
        <p:spPr>
          <a:xfrm>
            <a:off x="3121660" y="745500"/>
            <a:ext cx="5838505" cy="39979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Google Shape;61;p15"/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98E5EF62-52FA-FEB7-9F05-A34BB107CD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59;p15">
            <a:extLst>
              <a:ext uri="{FF2B5EF4-FFF2-40B4-BE49-F238E27FC236}">
                <a16:creationId xmlns:a16="http://schemas.microsoft.com/office/drawing/2014/main" id="{941FBEE4-3FC1-628D-E436-C52252C5AA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82E890-5C94-7E0C-2F53-925D0F78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914400"/>
            <a:ext cx="2523807" cy="378765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A3A8DC-5A74-C70F-4964-05DE1708AFE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914400"/>
            <a:ext cx="5497263" cy="3787653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Google Shape;58;p15">
            <a:extLst>
              <a:ext uri="{FF2B5EF4-FFF2-40B4-BE49-F238E27FC236}">
                <a16:creationId xmlns:a16="http://schemas.microsoft.com/office/drawing/2014/main" id="{2D20440A-1C4A-FB94-1B4E-C3B8EA328A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7547" y="253694"/>
            <a:ext cx="4859704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749CD5A-8954-F443-96BB-45DED9753A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291078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276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51850"/>
            <a:ext cx="2803207" cy="3991600"/>
          </a:xfrm>
          <a:prstGeom prst="roundRect">
            <a:avLst>
              <a:gd name="adj" fmla="val 4219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6947" y="11077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51850"/>
            <a:ext cx="5838505" cy="39916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303532" y="1107781"/>
            <a:ext cx="54864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98405C-E3DB-1A59-ACAC-600B94A34FC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6" y="891165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A8044E-7DCD-8E2A-74D0-5BD928E93F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212061" y="89116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24D4E69B-16F9-BE43-8DF4-E683F7F36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CFFA16-912F-1AA8-B96A-7490FEDFD2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BFBE42-3759-BE8B-774B-FA10B7E69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1216742"/>
            <a:ext cx="2523807" cy="340329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721053-6282-67B2-50D0-944408C1CA9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1216742"/>
            <a:ext cx="5497263" cy="3403299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34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42950"/>
            <a:ext cx="2803207" cy="4002288"/>
          </a:xfrm>
          <a:prstGeom prst="roundRect">
            <a:avLst>
              <a:gd name="adj" fmla="val 447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80F34E38-A511-67E6-29C1-54ADBA7AB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pic>
        <p:nvPicPr>
          <p:cNvPr id="2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D53F0D45-821D-F830-EFE1-E5F86278B9D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9;p15">
            <a:extLst>
              <a:ext uri="{FF2B5EF4-FFF2-40B4-BE49-F238E27FC236}">
                <a16:creationId xmlns:a16="http://schemas.microsoft.com/office/drawing/2014/main" id="{8A8EF2F5-0BBF-B00F-11F8-A8FD895150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BBAD04-94B9-9787-D6CE-612A90F675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550F933-CC52-1023-D908-DE92F7A8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A6C00E-F998-2177-B9FC-52D2EBC928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414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39150"/>
            <a:ext cx="2803207" cy="4004300"/>
          </a:xfrm>
          <a:prstGeom prst="roundRect">
            <a:avLst>
              <a:gd name="adj" fmla="val 42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6947" y="10950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39150"/>
            <a:ext cx="5838505" cy="40043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303532" y="1095081"/>
            <a:ext cx="54864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98405C-E3DB-1A59-ACAC-600B94A34FC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6" y="878465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A8044E-7DCD-8E2A-74D0-5BD928E93F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212061" y="87846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24D4E69B-16F9-BE43-8DF4-E683F7F36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A974A5A-E397-9EDD-EFE8-9D879DAF3D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D84644-1592-8B2A-06CB-67FC82DBA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1204042"/>
            <a:ext cx="2523807" cy="341412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0866CE-B3E4-B3EB-195C-4FFF214D6DD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1204042"/>
            <a:ext cx="5497263" cy="3414127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268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42950"/>
            <a:ext cx="2803207" cy="4008638"/>
          </a:xfrm>
          <a:prstGeom prst="roundRect">
            <a:avLst>
              <a:gd name="adj" fmla="val 447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42950"/>
            <a:ext cx="5838505" cy="4008638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80F34E38-A511-67E6-29C1-54ADBA7AB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pic>
        <p:nvPicPr>
          <p:cNvPr id="2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44FFE8E4-37BD-E9F2-B8A7-D63D4F607F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9;p15">
            <a:extLst>
              <a:ext uri="{FF2B5EF4-FFF2-40B4-BE49-F238E27FC236}">
                <a16:creationId xmlns:a16="http://schemas.microsoft.com/office/drawing/2014/main" id="{06D9BC8E-7E07-051F-604F-1C14920622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C30A3F-B889-FFD9-F269-9A4352F37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C5F75B-541A-9EC2-EA60-4235266D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866446"/>
            <a:ext cx="2523807" cy="384195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3C2F418-8045-23F8-1749-788E0BE5C31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866446"/>
            <a:ext cx="5497263" cy="3841958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754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w/subtitle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5500"/>
            <a:ext cx="2803207" cy="3997950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6311507" y="110143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5500"/>
            <a:ext cx="5838505" cy="3997950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6332" y="1101431"/>
            <a:ext cx="55321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2A4A8F-02E4-0113-C912-0BD04DC39F65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315393" y="1210392"/>
            <a:ext cx="2523807" cy="34087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8BF979-EE76-DBEB-F683-85D541FEFB81}"/>
              </a:ext>
            </a:extLst>
          </p:cNvPr>
          <p:cNvSpPr>
            <a:spLocks noGrp="1"/>
          </p:cNvSpPr>
          <p:nvPr userDrawn="1">
            <p:ph idx="13"/>
          </p:nvPr>
        </p:nvSpPr>
        <p:spPr>
          <a:xfrm>
            <a:off x="313952" y="1210392"/>
            <a:ext cx="5497263" cy="3408713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CF24688-0C3C-B9E9-F666-5F6E68858C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1902" y="878189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58F3E-D3FF-D9EC-B1BD-272EAC8CAC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17064" y="88481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DDC07F-4829-3817-6A3D-E056853C6F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420824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2950"/>
            <a:ext cx="2803207" cy="4002288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D1AF0E9-27DA-011C-2E4C-19976821A7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5E6669-356B-88D0-61EA-506719F4B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5A1932-D47B-A661-22A5-88027823DAF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486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 w/subtitle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51850"/>
            <a:ext cx="2803207" cy="3991600"/>
          </a:xfrm>
          <a:prstGeom prst="roundRect">
            <a:avLst>
              <a:gd name="adj" fmla="val 4728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6311507" y="11077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51850"/>
            <a:ext cx="5838505" cy="3991600"/>
          </a:xfrm>
          <a:prstGeom prst="roundRect">
            <a:avLst>
              <a:gd name="adj" fmla="val 3661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6332" y="1107781"/>
            <a:ext cx="55321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CF24688-0C3C-B9E9-F666-5F6E68858C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1902" y="884539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58F3E-D3FF-D9EC-B1BD-272EAC8CAC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17064" y="884539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76E5-AB64-5AA2-1373-F24B76C904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31A726-23F1-3A52-540A-0B9B3FB7A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1216742"/>
            <a:ext cx="2523807" cy="340329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88B10F5-C54A-C562-ACE9-05F679CD19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1216742"/>
            <a:ext cx="5497263" cy="3403299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945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2950"/>
            <a:ext cx="2803207" cy="4002288"/>
          </a:xfrm>
          <a:prstGeom prst="roundRect">
            <a:avLst>
              <a:gd name="adj" fmla="val 4728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81EDD10-4B5E-3133-E586-9DC93686E5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7409B2-B37F-4826-92CB-BB9BE9A01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0423D7E-C62B-55A6-E44F-0D452AA43CB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65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39150"/>
            <a:ext cx="2803207" cy="4004300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6311507" y="10950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39150"/>
            <a:ext cx="5838505" cy="4004300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6332" y="1095081"/>
            <a:ext cx="55321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CF24688-0C3C-B9E9-F666-5F6E68858C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1902" y="878465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58F3E-D3FF-D9EC-B1BD-272EAC8CAC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17064" y="87846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A77A03-5EB8-082A-5DB9-CD2C1605DE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CE455CA-850E-6A9C-AC54-3ADE33047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1204042"/>
            <a:ext cx="2523807" cy="341412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C9A586-EB72-856D-C74E-7E93045F32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1204042"/>
            <a:ext cx="5497263" cy="3414127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623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2950"/>
            <a:ext cx="2803207" cy="4002288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13462E4-BE74-6314-D1F9-D660E58B22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540CC55-2BF3-D51D-2C93-8D2B7435F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DD282D1-2E67-EC24-899C-7883177ADC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endParaRPr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9744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 userDrawn="1">
  <p:cSld name="Closing slide">
    <p:bg>
      <p:bgPr>
        <a:gradFill>
          <a:gsLst>
            <a:gs pos="0">
              <a:srgbClr val="7E00C8"/>
            </a:gs>
            <a:gs pos="100000">
              <a:srgbClr val="D500AE"/>
            </a:gs>
          </a:gsLst>
          <a:lin ang="540000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63;p43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17343640-7F3C-5387-8379-8DAB932749BD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6000"/>
          </a:blip>
          <a:srcRect l="25827" t="5879" r="14538" b="33444"/>
          <a:stretch/>
        </p:blipFill>
        <p:spPr>
          <a:xfrm>
            <a:off x="0" y="0"/>
            <a:ext cx="63193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p17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r="89183"/>
          <a:stretch/>
        </p:blipFill>
        <p:spPr>
          <a:xfrm>
            <a:off x="8813499" y="4904978"/>
            <a:ext cx="146077" cy="1174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68;p43">
            <a:extLst>
              <a:ext uri="{FF2B5EF4-FFF2-40B4-BE49-F238E27FC236}">
                <a16:creationId xmlns:a16="http://schemas.microsoft.com/office/drawing/2014/main" id="{5B5C72F0-EF3A-1BF0-FCE9-3881A79BFFFE}"/>
              </a:ext>
            </a:extLst>
          </p:cNvPr>
          <p:cNvSpPr txBox="1"/>
          <p:nvPr userDrawn="1"/>
        </p:nvSpPr>
        <p:spPr>
          <a:xfrm>
            <a:off x="4515225" y="217900"/>
            <a:ext cx="42570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sz="3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Google Shape;865;p43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40423B7C-2FFF-E085-8E5A-55210F71F0CF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75648" y="319642"/>
            <a:ext cx="2444878" cy="2125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67;p43">
            <a:extLst>
              <a:ext uri="{FF2B5EF4-FFF2-40B4-BE49-F238E27FC236}">
                <a16:creationId xmlns:a16="http://schemas.microsoft.com/office/drawing/2014/main" id="{ED3B3E03-F5A5-E5FD-8B8E-9DCCC1210830}"/>
              </a:ext>
            </a:extLst>
          </p:cNvPr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85;p19">
            <a:extLst>
              <a:ext uri="{FF2B5EF4-FFF2-40B4-BE49-F238E27FC236}">
                <a16:creationId xmlns:a16="http://schemas.microsoft.com/office/drawing/2014/main" id="{A92E0454-DA45-9D74-C445-6B31E0CA5923}"/>
              </a:ext>
            </a:extLst>
          </p:cNvPr>
          <p:cNvSpPr/>
          <p:nvPr userDrawn="1"/>
        </p:nvSpPr>
        <p:spPr>
          <a:xfrm>
            <a:off x="4712924" y="4686300"/>
            <a:ext cx="1706675" cy="23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0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3D1DB81-AD88-B8FA-C18F-3775E3447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5324" y="1710928"/>
            <a:ext cx="4295776" cy="4798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BD764E4-B75C-C602-A569-7EAFF1A26949}"/>
              </a:ext>
            </a:extLst>
          </p:cNvPr>
          <p:cNvSpPr txBox="1">
            <a:spLocks/>
          </p:cNvSpPr>
          <p:nvPr userDrawn="1"/>
        </p:nvSpPr>
        <p:spPr>
          <a:xfrm>
            <a:off x="4712924" y="4714833"/>
            <a:ext cx="1706675" cy="182233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54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2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43300" y="273844"/>
            <a:ext cx="497205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D5999-0963-4640-9676-7114E952CA76}" type="datetime1">
              <a:rPr lang="en-US" smtClean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456CDAA9-69DA-F36E-BC45-FDD1BD9B9761}"/>
              </a:ext>
            </a:extLst>
          </p:cNvPr>
          <p:cNvPicPr preferRelativeResize="0"/>
          <p:nvPr userDrawn="1"/>
        </p:nvPicPr>
        <p:blipFill rotWithShape="1">
          <a:blip r:embed="rId45">
            <a:alphaModFix/>
          </a:blip>
          <a:srcRect r="89183"/>
          <a:stretch/>
        </p:blipFill>
        <p:spPr>
          <a:xfrm>
            <a:off x="8813499" y="4904978"/>
            <a:ext cx="146077" cy="117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E42F7E32-8C5F-5BFF-E67F-F3BC4381B84B}"/>
              </a:ext>
            </a:extLst>
          </p:cNvPr>
          <p:cNvPicPr preferRelativeResize="0"/>
          <p:nvPr userDrawn="1"/>
        </p:nvPicPr>
        <p:blipFill rotWithShape="1">
          <a:blip r:embed="rId46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5">
            <a:extLst>
              <a:ext uri="{FF2B5EF4-FFF2-40B4-BE49-F238E27FC236}">
                <a16:creationId xmlns:a16="http://schemas.microsoft.com/office/drawing/2014/main" id="{B20C1159-17A7-1728-EC63-5D47B1FD4EB1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045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55" r:id="rId2"/>
    <p:sldLayoutId id="2147483756" r:id="rId3"/>
    <p:sldLayoutId id="2147483770" r:id="rId4"/>
    <p:sldLayoutId id="2147483771" r:id="rId5"/>
    <p:sldLayoutId id="2147483772" r:id="rId6"/>
    <p:sldLayoutId id="2147483692" r:id="rId7"/>
    <p:sldLayoutId id="2147483694" r:id="rId8"/>
    <p:sldLayoutId id="2147483705" r:id="rId9"/>
    <p:sldLayoutId id="2147483707" r:id="rId10"/>
    <p:sldLayoutId id="2147483709" r:id="rId11"/>
    <p:sldLayoutId id="2147483711" r:id="rId12"/>
    <p:sldLayoutId id="2147483757" r:id="rId13"/>
    <p:sldLayoutId id="2147483759" r:id="rId14"/>
    <p:sldLayoutId id="2147483761" r:id="rId15"/>
    <p:sldLayoutId id="2147483763" r:id="rId16"/>
    <p:sldLayoutId id="2147483765" r:id="rId17"/>
    <p:sldLayoutId id="2147483767" r:id="rId18"/>
    <p:sldLayoutId id="2147483690" r:id="rId19"/>
    <p:sldLayoutId id="2147483696" r:id="rId20"/>
    <p:sldLayoutId id="2147483713" r:id="rId21"/>
    <p:sldLayoutId id="2147483715" r:id="rId22"/>
    <p:sldLayoutId id="2147483717" r:id="rId23"/>
    <p:sldLayoutId id="2147483719" r:id="rId24"/>
    <p:sldLayoutId id="2147483678" r:id="rId25"/>
    <p:sldLayoutId id="2147483698" r:id="rId26"/>
    <p:sldLayoutId id="2147483731" r:id="rId27"/>
    <p:sldLayoutId id="2147483733" r:id="rId28"/>
    <p:sldLayoutId id="2147483735" r:id="rId29"/>
    <p:sldLayoutId id="2147483737" r:id="rId30"/>
    <p:sldLayoutId id="2147483680" r:id="rId31"/>
    <p:sldLayoutId id="2147483702" r:id="rId32"/>
    <p:sldLayoutId id="2147483739" r:id="rId33"/>
    <p:sldLayoutId id="2147483741" r:id="rId34"/>
    <p:sldLayoutId id="2147483743" r:id="rId35"/>
    <p:sldLayoutId id="2147483745" r:id="rId36"/>
    <p:sldLayoutId id="2147483747" r:id="rId37"/>
    <p:sldLayoutId id="2147483749" r:id="rId38"/>
    <p:sldLayoutId id="2147483751" r:id="rId39"/>
    <p:sldLayoutId id="2147483753" r:id="rId40"/>
    <p:sldLayoutId id="2147483681" r:id="rId41"/>
    <p:sldLayoutId id="2147483703" r:id="rId42"/>
    <p:sldLayoutId id="2147483674" r:id="rId4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Poppins Medium" panose="00000600000000000000" pitchFamily="2" charset="0"/>
          <a:ea typeface="+mj-ea"/>
          <a:cs typeface="Poppins Medium" panose="00000600000000000000" pitchFamily="2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231775" indent="-173038" algn="l" defTabSz="685800" rtl="0" eaLnBrk="1" latinLnBrk="0" hangingPunct="1">
        <a:lnSpc>
          <a:spcPct val="90000"/>
        </a:lnSpc>
        <a:spcBef>
          <a:spcPts val="375"/>
        </a:spcBef>
        <a:buClr>
          <a:schemeClr val="bg2"/>
        </a:buClr>
        <a:buFont typeface="Poppins" panose="00000500000000000000" pitchFamily="2" charset="0"/>
        <a:buChar char="&gt;"/>
        <a:tabLst>
          <a:tab pos="1371600" algn="l"/>
        </a:tabLst>
        <a:defRPr sz="1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396875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Poppins" panose="00000500000000000000" pitchFamily="2" charset="0"/>
        <a:buChar char="&gt;"/>
        <a:defRPr sz="9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569913" indent="-173038" algn="l" defTabSz="685800" rtl="0" eaLnBrk="1" latinLnBrk="0" hangingPunct="1">
        <a:lnSpc>
          <a:spcPct val="90000"/>
        </a:lnSpc>
        <a:spcBef>
          <a:spcPts val="375"/>
        </a:spcBef>
        <a:buClr>
          <a:schemeClr val="accent6"/>
        </a:buClr>
        <a:buFont typeface="Poppins" panose="00000500000000000000" pitchFamily="2" charset="0"/>
        <a:buChar char="&gt;"/>
        <a:defRPr sz="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741363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5"/>
        </a:buClr>
        <a:buFont typeface="Poppins" panose="00000500000000000000" pitchFamily="2" charset="0"/>
        <a:buChar char="&gt;"/>
        <a:defRPr sz="7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600" b="1" i="0">
                <a:solidFill>
                  <a:srgbClr val="FFFFFF"/>
                </a:solidFill>
                <a:latin typeface="Poppins"/>
              </a:rPr>
              <a:t>MAMMAL</a:t>
            </a:r>
          </a:p>
          <a:p>
            <a:r>
              <a:rPr sz="2600" b="1" i="0">
                <a:solidFill>
                  <a:srgbClr val="FFFFFF"/>
                </a:solidFill>
                <a:latin typeface="Poppins"/>
              </a:rPr>
              <a:t>Follow-up since 6/5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 b="0" i="0">
                <a:solidFill>
                  <a:srgbClr val="FFFFFF"/>
                </a:solidFill>
                <a:latin typeface="Poppins"/>
              </a:rPr>
              <a:t>Data gap vs model limit</a:t>
            </a:r>
          </a:p>
          <a:p>
            <a:r>
              <a:rPr sz="1200" b="0" i="0">
                <a:solidFill>
                  <a:srgbClr val="FFFFFF"/>
                </a:solidFill>
                <a:latin typeface="Poppins"/>
              </a:rPr>
              <a:t>Alternative models</a:t>
            </a:r>
          </a:p>
          <a:p>
            <a:r>
              <a:rPr sz="1200" b="0" i="0">
                <a:solidFill>
                  <a:srgbClr val="FFFFFF"/>
                </a:solidFill>
                <a:latin typeface="Poppins"/>
              </a:rPr>
              <a:t>The diversity finding</a:t>
            </a:r>
          </a:p>
          <a:p>
            <a:endParaRPr sz="1200" b="0" i="0">
              <a:solidFill>
                <a:srgbClr val="FFFFFF"/>
              </a:solidFill>
              <a:latin typeface="Poppins"/>
            </a:endParaRPr>
          </a:p>
          <a:p>
            <a:r>
              <a:rPr sz="1200" b="0" i="0">
                <a:solidFill>
                  <a:srgbClr val="FFFFFF"/>
                </a:solidFill>
                <a:latin typeface="Poppins"/>
              </a:rPr>
              <a:t>Rohan Aryagondi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What the 6/5 check-in asked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2</a:t>
            </a:fld>
            <a:endParaRPr lang="en-US" sz="700" dirty="0">
              <a:latin typeface="Poppi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0876" y="750936"/>
            <a:ext cx="8593104" cy="3840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>
                <a:solidFill>
                  <a:srgbClr val="9C02FA"/>
                </a:solidFill>
                <a:latin typeface="Poppins"/>
              </a:rPr>
              <a:t>•  Diagnostic (Graham, Matt)</a:t>
            </a:r>
            <a:r>
              <a:rPr sz="1200">
                <a:solidFill>
                  <a:srgbClr val="1A1A24"/>
                </a:solidFill>
                <a:latin typeface="Poppins"/>
              </a:rPr>
              <a:t> — is MAMMAL's Nav binding failure a data gap or a model limit? Decides whether a Quiver fine-tune helps.</a:t>
            </a:r>
          </a:p>
          <a:p>
            <a:pPr marL="0" indent="0">
              <a:spcBef>
                <a:spcPts val="1000"/>
              </a:spcBef>
              <a:buNone/>
            </a:pPr>
            <a:r>
              <a:rPr sz="1200" b="1">
                <a:solidFill>
                  <a:srgbClr val="9C02FA"/>
                </a:solidFill>
                <a:latin typeface="Poppins"/>
              </a:rPr>
              <a:t>•  Slide-9 alternative models (Matt, David)</a:t>
            </a:r>
            <a:r>
              <a:rPr sz="1200">
                <a:solidFill>
                  <a:srgbClr val="1A1A24"/>
                </a:solidFill>
                <a:latin typeface="Poppins"/>
              </a:rPr>
              <a:t> — benchmark ConPLex / Boltz-2 / ADMET-AI / ESM-C on our data, not paper badges.</a:t>
            </a:r>
          </a:p>
          <a:p>
            <a:pPr marL="0" indent="0">
              <a:spcBef>
                <a:spcPts val="1000"/>
              </a:spcBef>
              <a:buNone/>
            </a:pPr>
            <a:r>
              <a:rPr sz="1200" b="1">
                <a:solidFill>
                  <a:srgbClr val="9C02FA"/>
                </a:solidFill>
                <a:latin typeface="Poppins"/>
              </a:rPr>
              <a:t>•  PROTON evaluation (Matt, David)</a:t>
            </a:r>
            <a:r>
              <a:rPr sz="1200">
                <a:solidFill>
                  <a:srgbClr val="1A1A24"/>
                </a:solidFill>
                <a:latin typeface="Poppins"/>
              </a:rPr>
              <a:t> — Zitnik Lab's neurology relational FM, closer to the Sapphire KG use case than to binding prediction.</a:t>
            </a:r>
          </a:p>
          <a:p>
            <a:pPr marL="0" indent="0">
              <a:spcBef>
                <a:spcPts val="1000"/>
              </a:spcBef>
              <a:buNone/>
            </a:pPr>
            <a:r>
              <a:rPr sz="1200" b="1">
                <a:solidFill>
                  <a:srgbClr val="9C02FA"/>
                </a:solidFill>
                <a:latin typeface="Poppins"/>
              </a:rPr>
              <a:t>•  BBBP characterization (Graham, Mahdi)</a:t>
            </a:r>
            <a:r>
              <a:rPr sz="1200">
                <a:solidFill>
                  <a:srgbClr val="1A1A24"/>
                </a:solidFill>
                <a:latin typeface="Poppins"/>
              </a:rPr>
              <a:t> — why is BBBP "too permissive"? Mahdi's reframe: trust the no's, investigate the yes's.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Bottom line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3</a:t>
            </a:fld>
            <a:endParaRPr lang="en-US" sz="700" dirty="0">
              <a:latin typeface="Poppi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0876" y="750936"/>
            <a:ext cx="8593104" cy="3840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Data volume is necessary, not sufficient</a:t>
            </a:r>
            <a:r>
              <a:rPr sz="1150">
                <a:solidFill>
                  <a:srgbClr val="1A1A24"/>
                </a:solidFill>
                <a:latin typeface="Poppins"/>
              </a:rPr>
              <a:t> — a minority of well-trained targets work, most don't. The high-data regime is bimodal.</a:t>
            </a:r>
          </a:p>
          <a:p>
            <a:pPr marL="0" indent="0">
              <a:spcBef>
                <a:spcPts val="700"/>
              </a:spcBef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No off-the-shelf alternative beats MAMMAL</a:t>
            </a:r>
            <a:r>
              <a:rPr sz="1150">
                <a:solidFill>
                  <a:srgbClr val="1A1A24"/>
                </a:solidFill>
                <a:latin typeface="Poppins"/>
              </a:rPr>
              <a:t> — ConPLex sits at chance too; the failure is general to the BindingDB-trained DTI tooling space.</a:t>
            </a:r>
          </a:p>
          <a:p>
            <a:pPr marL="0" indent="0">
              <a:spcBef>
                <a:spcPts val="700"/>
              </a:spcBef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ADMET-AI finally fills the toxicity-gate slot</a:t>
            </a:r>
            <a:r>
              <a:rPr sz="1150">
                <a:solidFill>
                  <a:srgbClr val="1A1A24"/>
                </a:solidFill>
                <a:latin typeface="Poppins"/>
              </a:rPr>
              <a:t> — DILI TPR 0.83 vs MAMMAL ClinTox 0.08. Deprecate ClinTox.</a:t>
            </a:r>
          </a:p>
          <a:p>
            <a:pPr marL="0" indent="0">
              <a:spcBef>
                <a:spcPts val="700"/>
              </a:spcBef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Protein-embedding pitch is at parity, not superiority</a:t>
            </a:r>
            <a:r>
              <a:rPr sz="1150">
                <a:solidFill>
                  <a:srgbClr val="1A1A24"/>
                </a:solidFill>
                <a:latin typeface="Poppins"/>
              </a:rPr>
              <a:t> — MAMMAL ties open MIT-licensed ESM-2-650M on the canonical CRISPR-N panel.</a:t>
            </a:r>
          </a:p>
          <a:p>
            <a:pPr marL="0" indent="0">
              <a:spcBef>
                <a:spcPts val="700"/>
              </a:spcBef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mTOR is the next BRAF</a:t>
            </a:r>
            <a:r>
              <a:rPr sz="1150">
                <a:solidFill>
                  <a:srgbClr val="1A1A24"/>
                </a:solidFill>
                <a:latin typeface="Poppins"/>
              </a:rPr>
              <a:t> — truncation falsified; chance even with kinase domain fully visible. Drop from any pitch.</a:t>
            </a:r>
          </a:p>
          <a:p>
            <a:pPr marL="0" indent="0">
              <a:spcBef>
                <a:spcPts val="700"/>
              </a:spcBef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Project thesis unchanged but sharper</a:t>
            </a:r>
            <a:r>
              <a:rPr sz="1150">
                <a:solidFill>
                  <a:srgbClr val="1A1A24"/>
                </a:solidFill>
                <a:latin typeface="Poppins"/>
              </a:rPr>
              <a:t> — MAMMAL is commodity enrichment. Moat stays Quiver functional trace + V1-T.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Where is MAMMAL data-suited? — ceiling test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4</a:t>
            </a:fld>
            <a:endParaRPr lang="en-US" sz="700" dirty="0">
              <a:latin typeface="Poppin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0876" y="750936"/>
          <a:ext cx="6995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Poppins"/>
                        </a:rPr>
                        <a:t>Target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Poppins"/>
                        </a:rPr>
                        <a:t>Class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Poppins"/>
                        </a:rPr>
                        <a:t>n_pairs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Poppins"/>
                        </a:rPr>
                        <a:t>AUROC random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Poppins"/>
                        </a:rPr>
                        <a:t>AUROC matched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Poppins"/>
                        </a:rPr>
                        <a:t>off-target Δ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24"/>
                          </a:solidFill>
                          <a:latin typeface="Poppins"/>
                        </a:rPr>
                        <a:t>RORC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nuclear receptor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374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9C02FA"/>
                          </a:solidFill>
                          <a:latin typeface="Poppins"/>
                        </a:rPr>
                        <a:t>0.97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9C02FA"/>
                          </a:solidFill>
                          <a:latin typeface="Poppins"/>
                        </a:rPr>
                        <a:t>0.95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+0.68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24"/>
                          </a:solidFill>
                          <a:latin typeface="Poppins"/>
                        </a:rPr>
                        <a:t>CA2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other (CA)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269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9C02FA"/>
                          </a:solidFill>
                          <a:latin typeface="Poppins"/>
                        </a:rPr>
                        <a:t>0.87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9C02FA"/>
                          </a:solidFill>
                          <a:latin typeface="Poppins"/>
                        </a:rPr>
                        <a:t>0.84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24"/>
                          </a:solidFill>
                          <a:latin typeface="Poppins"/>
                        </a:rPr>
                        <a:t>+1.97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24"/>
                          </a:solidFill>
                          <a:latin typeface="Poppins"/>
                        </a:rPr>
                        <a:t>Adrb2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GPCR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211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9C02FA"/>
                          </a:solidFill>
                          <a:latin typeface="Poppins"/>
                        </a:rPr>
                        <a:t>0.87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9C02FA"/>
                          </a:solidFill>
                          <a:latin typeface="Poppins"/>
                        </a:rPr>
                        <a:t>0.88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+0.83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24"/>
                          </a:solidFill>
                          <a:latin typeface="Poppins"/>
                        </a:rPr>
                        <a:t>mTOR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1">
                          <a:solidFill>
                            <a:srgbClr val="1A1A24"/>
                          </a:solidFill>
                          <a:latin typeface="Poppins"/>
                        </a:rPr>
                        <a:t>kinase (Quiver)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192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0.76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F51D3F"/>
                          </a:solidFill>
                          <a:latin typeface="Poppins"/>
                        </a:rPr>
                        <a:t>0.56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F51D3F"/>
                          </a:solidFill>
                          <a:latin typeface="Poppins"/>
                        </a:rPr>
                        <a:t>−1.12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24"/>
                          </a:solidFill>
                          <a:latin typeface="Poppins"/>
                        </a:rPr>
                        <a:t>BRAF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1">
                          <a:solidFill>
                            <a:srgbClr val="1A1A24"/>
                          </a:solidFill>
                          <a:latin typeface="Poppins"/>
                        </a:rPr>
                        <a:t>kinase (most-trained!)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532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F51D3F"/>
                          </a:solidFill>
                          <a:latin typeface="Poppins"/>
                        </a:rPr>
                        <a:t>0.47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F51D3F"/>
                          </a:solidFill>
                          <a:latin typeface="Poppins"/>
                        </a:rPr>
                        <a:t>0.46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+1.18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24"/>
                          </a:solidFill>
                          <a:latin typeface="Poppins"/>
                        </a:rPr>
                        <a:t>HRH1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GPCR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184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F51D3F"/>
                          </a:solidFill>
                          <a:latin typeface="Poppins"/>
                        </a:rPr>
                        <a:t>0.40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F51D3F"/>
                          </a:solidFill>
                          <a:latin typeface="Poppins"/>
                        </a:rPr>
                        <a:t>0.33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24"/>
                          </a:solidFill>
                          <a:latin typeface="Poppins"/>
                        </a:rPr>
                        <a:t>+0.68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876" y="3265536"/>
            <a:ext cx="8593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A1A24"/>
                </a:solidFill>
                <a:latin typeface="Poppins"/>
              </a:rPr>
              <a:t>3 of 6 land at AUROC ≥ 0.80 on both random and MW-matched decoys. </a:t>
            </a:r>
            <a:r>
              <a:rPr sz="1050" b="1">
                <a:solidFill>
                  <a:srgbClr val="1A1A24"/>
                </a:solidFill>
                <a:latin typeface="Poppins"/>
              </a:rPr>
              <a:t>BRAF — the most-trained target in BindingDB — is at chance. mTOR collapses on matched and inverts off-target.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"/>
              </a:rPr>
              <a:t>Threshold curve — AUROC vs training pairs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5</a:t>
            </a:fld>
            <a:endParaRPr lang="en-US" sz="700" dirty="0">
              <a:latin typeface="Poppins"/>
            </a:endParaRPr>
          </a:p>
        </p:txBody>
      </p:sp>
      <p:pic>
        <p:nvPicPr>
          <p:cNvPr id="14" name="Picture 13" descr="fig_datafi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988" y="750936"/>
            <a:ext cx="4754880" cy="3017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0876" y="3905615"/>
            <a:ext cx="8593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9C02FA"/>
                </a:solidFill>
                <a:latin typeface="Poppins"/>
              </a:rPr>
              <a:t>Non-monotonic. </a:t>
            </a:r>
            <a:r>
              <a:rPr sz="1050" b="0">
                <a:solidFill>
                  <a:srgbClr val="1A1A24"/>
                </a:solidFill>
                <a:latin typeface="Poppins"/>
              </a:rPr>
              <a:t>Peaks at the 40–149 bin (0.77 ± 0.09) and </a:t>
            </a:r>
            <a:r>
              <a:rPr sz="1050" b="1">
                <a:solidFill>
                  <a:srgbClr val="F51D3F"/>
                </a:solidFill>
                <a:latin typeface="Poppins"/>
              </a:rPr>
              <a:t>drops back </a:t>
            </a:r>
            <a:r>
              <a:rPr sz="1050" b="0">
                <a:solidFill>
                  <a:srgbClr val="1A1A24"/>
                </a:solidFill>
                <a:latin typeface="Poppins"/>
              </a:rPr>
              <a:t>to 0.60 in the 150+ bin with σ doubling. Data volume alone doesn't predict success at the high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Why does it fail on some rich-data targets?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6</a:t>
            </a:fld>
            <a:endParaRPr lang="en-US" sz="700" dirty="0">
              <a:latin typeface="Poppi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0876" y="750936"/>
            <a:ext cx="8593104" cy="3840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mTOR truncation theory — FALSIFIED</a:t>
            </a:r>
            <a:r>
              <a:rPr sz="1150">
                <a:solidFill>
                  <a:srgbClr val="1A1A24"/>
                </a:solidFill>
                <a:latin typeface="Poppins"/>
              </a:rPr>
              <a:t> — kinase-domain window (451 aa, fully visible, no truncation) keeps AUROC at 0.50. mTOR is the next BRAF, not a truncation artifact.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Chemodiversity vs AUROC — Spearman = −0.83</a:t>
            </a:r>
            <a:r>
              <a:rPr sz="1150">
                <a:solidFill>
                  <a:srgbClr val="1A1A24"/>
                </a:solidFill>
                <a:latin typeface="Poppins"/>
              </a:rPr>
              <a:t> — narrower binder sets correlate with higher AUROC across the 6 ceiling targets.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Memorisation hypothesis — REFUTED</a:t>
            </a:r>
            <a:r>
              <a:rPr sz="1150">
                <a:solidFill>
                  <a:srgbClr val="1A1A24"/>
                </a:solidFill>
                <a:latin typeface="Poppins"/>
              </a:rPr>
              <a:t> — held-out-scaffold test: RORC AUROC 0.93 on the 94 % of binders that aren't the dominant scaffold (vs 0.97 in-scaffold). Ceiling wins are real generalisation.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150" b="1">
                <a:solidFill>
                  <a:srgbClr val="9C02FA"/>
                </a:solidFill>
                <a:latin typeface="Poppins"/>
              </a:rPr>
              <a:t>•  Decoy-distance + output-variance — also REFUTED</a:t>
            </a:r>
            <a:r>
              <a:rPr sz="1150">
                <a:solidFill>
                  <a:srgbClr val="1A1A24"/>
                </a:solidFill>
                <a:latin typeface="Poppins"/>
              </a:rPr>
              <a:t> — Spearman = +0.03 / +0.26. Three hypotheses tested; mechanism behind ρ = −0.83 remains genuinely open.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ConPLex — does it beat MAMMAL? No.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7</a:t>
            </a:fld>
            <a:endParaRPr lang="en-US" sz="700" dirty="0">
              <a:latin typeface="Poppin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0876" y="750936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Test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MAMMAL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ConPLex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Correlation (Spearman vs pChEMBL, n=10)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9C02FA"/>
                          </a:solidFill>
                          <a:latin typeface="Poppins"/>
                        </a:rPr>
                        <a:t>+0.43 PASS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−0.03 FAIL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Named test (suzetrigine → Nav1.8, z-margin)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−0.69 FAIL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−2.35 FAIL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Nav1.8 binder-vs-decoy AUROC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0.43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0.39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mTOR binder-vs-decoy AUROC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0.54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0.58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WDR91 SPR (fine-tuned MAMMAL vs zero-shot ConPLex)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9C02FA"/>
                          </a:solidFill>
                          <a:latin typeface="Poppins"/>
                        </a:rPr>
                        <a:t>0.82 STRONG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0.59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876" y="3128376"/>
            <a:ext cx="8593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C02FA"/>
                </a:solidFill>
                <a:latin typeface="Poppins"/>
              </a:rPr>
              <a:t>ConPLex does not beat MAMMAL anywhere. </a:t>
            </a:r>
            <a:r>
              <a:rPr sz="1100" b="0">
                <a:solidFill>
                  <a:srgbClr val="1A1A24"/>
                </a:solidFill>
                <a:latin typeface="Poppins"/>
              </a:rPr>
              <a:t>Both sit at chance on Nav1.8 / mTOR. </a:t>
            </a:r>
            <a:r>
              <a:rPr sz="1100" b="1">
                <a:solidFill>
                  <a:srgbClr val="1A1A24"/>
                </a:solidFill>
                <a:latin typeface="Poppins"/>
              </a:rPr>
              <a:t>Zero-shot DTI failure is general to BindingDB-trained tooling — not MAMMAL-specific.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ADMET-AI replaces the broken ClinTox head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8</a:t>
            </a:fld>
            <a:endParaRPr lang="en-US" sz="700" dirty="0">
              <a:latin typeface="Poppin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0876" y="750936"/>
          <a:ext cx="8138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Endpoint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AUROC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TPR (toxic)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TNR (safe)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1A24"/>
                          </a:solidFill>
                          <a:latin typeface="Poppins"/>
                        </a:rPr>
                        <a:t>ADMET-AI DILI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9C02FA"/>
                          </a:solidFill>
                          <a:latin typeface="Poppins"/>
                        </a:rPr>
                        <a:t>0.73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9C02FA"/>
                          </a:solidFill>
                          <a:latin typeface="Poppins"/>
                        </a:rPr>
                        <a:t>0.83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0.67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ADMET-AI AMES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0.67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0.17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0.93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ADMET-AI ClinTox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0.50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0.00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1.00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ADMET-AI hERG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0.48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0.33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0.40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 i="1">
                          <a:solidFill>
                            <a:srgbClr val="1A1A24"/>
                          </a:solidFill>
                          <a:latin typeface="Poppins"/>
                        </a:rPr>
                        <a:t>MAMMAL ClinTox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0.28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F51D3F"/>
                          </a:solidFill>
                          <a:latin typeface="Poppins"/>
                        </a:rPr>
                        <a:t>0.08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1.00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876" y="2899776"/>
            <a:ext cx="85931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050" b="1">
                <a:solidFill>
                  <a:srgbClr val="9C02FA"/>
                </a:solidFill>
                <a:latin typeface="Poppins"/>
              </a:rPr>
              <a:t>•  ADMET-AI DILI catches 10/12 toxics</a:t>
            </a:r>
            <a:r>
              <a:rPr sz="1050">
                <a:solidFill>
                  <a:srgbClr val="1A1A24"/>
                </a:solidFill>
                <a:latin typeface="Poppins"/>
              </a:rPr>
              <a:t> — vs MAMMAL ClinTox's 1/12. Earns the toxicity-gate slot.</a:t>
            </a:r>
          </a:p>
          <a:p>
            <a:pPr marL="0" indent="0">
              <a:spcBef>
                <a:spcPts val="600"/>
              </a:spcBef>
              <a:buNone/>
            </a:pPr>
            <a:r>
              <a:rPr sz="1050" b="1">
                <a:solidFill>
                  <a:srgbClr val="9C02FA"/>
                </a:solidFill>
                <a:latin typeface="Poppins"/>
              </a:rPr>
              <a:t>•  ClinTox dataset is the wrong endpoint</a:t>
            </a:r>
            <a:r>
              <a:rPr sz="1050">
                <a:solidFill>
                  <a:srgbClr val="1A1A24"/>
                </a:solidFill>
                <a:latin typeface="Poppins"/>
              </a:rPr>
              <a:t> — both models fail. Use mechanism-specific endpoints (DILI / hERG / AMES). Deprecate MAMMAL ClinTox.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Protein embeddings — at parity, not superiority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9</a:t>
            </a:fld>
            <a:endParaRPr lang="en-US" sz="700" dirty="0">
              <a:latin typeface="Poppin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0876" y="750936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License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NN-recall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oppins"/>
                        </a:rPr>
                        <a:t>family gap</a:t>
                      </a:r>
                    </a:p>
                  </a:txBody>
                  <a:tcPr marL="45720" marR="45720" marT="27432" marB="27432">
                    <a:solidFill>
                      <a:srgbClr val="730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1A24"/>
                          </a:solidFill>
                          <a:latin typeface="Poppins"/>
                        </a:rPr>
                        <a:t>MAMMAL 458M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IBM (research)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9C02FA"/>
                          </a:solidFill>
                          <a:latin typeface="Poppins"/>
                        </a:rPr>
                        <a:t>0.750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0.374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ESM-2 650M (raw cosine)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MIT (open)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0.725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0.039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1A24"/>
                          </a:solidFill>
                          <a:latin typeface="Poppins"/>
                        </a:rPr>
                        <a:t>ESM-2 650M (centered — the textbook fix)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A1A24"/>
                          </a:solidFill>
                          <a:latin typeface="Poppins"/>
                        </a:rPr>
                        <a:t>MIT (open)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9C02FA"/>
                          </a:solidFill>
                          <a:latin typeface="Poppins"/>
                        </a:rPr>
                        <a:t>0.750 (tie)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24"/>
                          </a:solidFill>
                          <a:latin typeface="Poppins"/>
                        </a:rPr>
                        <a:t>0.417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876" y="2351136"/>
            <a:ext cx="85931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6A"/>
                </a:solidFill>
                <a:latin typeface="Poppins"/>
              </a:rPr>
              <a:t>40-gene CRISPR-N panel  ·  same protocol  ·  mean-pool + cosine 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876" y="2716896"/>
            <a:ext cx="85931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050" b="1">
                <a:solidFill>
                  <a:srgbClr val="9C02FA"/>
                </a:solidFill>
                <a:latin typeface="Poppins"/>
              </a:rPr>
              <a:t>•  Prior 0.92 vs 0.88 was on a 25-protein toy panel</a:t>
            </a:r>
            <a:r>
              <a:rPr sz="1050">
                <a:solidFill>
                  <a:srgbClr val="1A1A24"/>
                </a:solidFill>
                <a:latin typeface="Poppins"/>
              </a:rPr>
              <a:t> — never re-run on the canonical CRISPR-N until now. On the real panel under the standard anisotropy correction, MAMMAL ties.</a:t>
            </a:r>
          </a:p>
          <a:p>
            <a:pPr marL="0" indent="0">
              <a:spcBef>
                <a:spcPts val="600"/>
              </a:spcBef>
              <a:buNone/>
            </a:pPr>
            <a:r>
              <a:rPr sz="1050" b="1">
                <a:solidFill>
                  <a:srgbClr val="9C02FA"/>
                </a:solidFill>
                <a:latin typeface="Poppins"/>
              </a:rPr>
              <a:t>•  ESM-2-650M is MIT-licensed and a clean swap</a:t>
            </a:r>
            <a:r>
              <a:rPr sz="1050">
                <a:solidFill>
                  <a:srgbClr val="1A1A24"/>
                </a:solidFill>
                <a:latin typeface="Poppins"/>
              </a:rPr>
              <a:t> — Sapphire embedding-layer pitch survives at parity, not superiority. Open option on the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BBBP head — what is it actually doing?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10</a:t>
            </a:fld>
            <a:endParaRPr lang="en-US" sz="700" dirty="0">
              <a:latin typeface="Poppins"/>
            </a:endParaRPr>
          </a:p>
        </p:txBody>
      </p:sp>
      <p:pic>
        <p:nvPicPr>
          <p:cNvPr id="14" name="Picture 13" descr="fig_bbbp_physch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6" y="750936"/>
            <a:ext cx="3840480" cy="3200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4236" y="750936"/>
            <a:ext cx="45697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050" b="1">
                <a:solidFill>
                  <a:srgbClr val="9C02FA"/>
                </a:solidFill>
                <a:latin typeface="Poppins"/>
              </a:rPr>
              <a:t>•  Spearman(P(BBB+), MW) = −0.73</a:t>
            </a:r>
            <a:r>
              <a:rPr sz="1050">
                <a:solidFill>
                  <a:srgbClr val="1A1A24"/>
                </a:solidFill>
                <a:latin typeface="Poppins"/>
              </a:rPr>
              <a:t> — Graham directionally right. HBA −0.67, TPSA −0.61.</a:t>
            </a:r>
          </a:p>
          <a:p>
            <a:pPr marL="0" indent="0">
              <a:spcBef>
                <a:spcPts val="600"/>
              </a:spcBef>
              <a:buNone/>
            </a:pPr>
            <a:r>
              <a:rPr sz="1050" b="1">
                <a:solidFill>
                  <a:srgbClr val="9C02FA"/>
                </a:solidFill>
                <a:latin typeface="Poppins"/>
              </a:rPr>
              <a:t>•  Size + polarity exclusion gate</a:t>
            </a:r>
            <a:r>
              <a:rPr sz="1050">
                <a:solidFill>
                  <a:srgbClr val="1A1A24"/>
                </a:solidFill>
                <a:latin typeface="Poppins"/>
              </a:rPr>
              <a:t> — operative cliff is ≳450 Da + polar → exclude. Not "&lt;300 Da → brain".</a:t>
            </a:r>
          </a:p>
          <a:p>
            <a:pPr marL="0" indent="0">
              <a:spcBef>
                <a:spcPts val="600"/>
              </a:spcBef>
              <a:buNone/>
            </a:pPr>
            <a:r>
              <a:rPr sz="1050" b="1">
                <a:solidFill>
                  <a:srgbClr val="9C02FA"/>
                </a:solidFill>
                <a:latin typeface="Poppins"/>
              </a:rPr>
              <a:t>•  8/8 "predicted no" are truly non-penetrant</a:t>
            </a:r>
            <a:r>
              <a:rPr sz="1050">
                <a:solidFill>
                  <a:srgbClr val="1A1A24"/>
                </a:solidFill>
                <a:latin typeface="Poppins"/>
              </a:rPr>
              <a:t> — TNR perfect on the &lt;0.3 set.</a:t>
            </a:r>
          </a:p>
          <a:p>
            <a:pPr marL="0" indent="0">
              <a:spcBef>
                <a:spcPts val="600"/>
              </a:spcBef>
              <a:buNone/>
            </a:pPr>
            <a:r>
              <a:rPr sz="1050" b="1">
                <a:solidFill>
                  <a:srgbClr val="9C02FA"/>
                </a:solidFill>
                <a:latin typeface="Poppins"/>
              </a:rPr>
              <a:t>•  29/43 "predicted yes" are CNS-active (67 %)</a:t>
            </a:r>
            <a:r>
              <a:rPr sz="1050">
                <a:solidFill>
                  <a:srgbClr val="1A1A24"/>
                </a:solidFill>
                <a:latin typeface="Poppins"/>
              </a:rPr>
              <a:t> — only marginally above base rate.</a:t>
            </a:r>
          </a:p>
          <a:p>
            <a:pPr marL="0" indent="0">
              <a:spcBef>
                <a:spcPts val="600"/>
              </a:spcBef>
              <a:buNone/>
            </a:pPr>
            <a:r>
              <a:rPr sz="1050" b="1">
                <a:solidFill>
                  <a:srgbClr val="9C02FA"/>
                </a:solidFill>
                <a:latin typeface="Poppins"/>
              </a:rPr>
              <a:t>•  Saturated 0/1</a:t>
            </a:r>
            <a:r>
              <a:rPr sz="1050">
                <a:solidFill>
                  <a:srgbClr val="1A1A24"/>
                </a:solidFill>
                <a:latin typeface="Poppins"/>
              </a:rPr>
              <a:t> — no drug lands between 0.3 and 0.7.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4236" y="3448416"/>
            <a:ext cx="45697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9C02FA"/>
                </a:solidFill>
                <a:latin typeface="Poppins"/>
              </a:rPr>
              <a:t>Mahdi's reframe — "trust the no's, investigate the yes's" — fully validated.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PROTON + Boltz-2 — both need AWS, both on hold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11</a:t>
            </a:fld>
            <a:endParaRPr lang="en-US" sz="700" dirty="0">
              <a:latin typeface="Poppi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0876" y="750936"/>
            <a:ext cx="8593104" cy="3840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100" b="1">
                <a:solidFill>
                  <a:srgbClr val="9C02FA"/>
                </a:solidFill>
                <a:latin typeface="Poppins"/>
              </a:rPr>
              <a:t>•  PROTON access — CONFIRMED open</a:t>
            </a:r>
            <a:r>
              <a:rPr sz="1100">
                <a:solidFill>
                  <a:srgbClr val="1A1A24"/>
                </a:solidFill>
                <a:latin typeface="Poppins"/>
              </a:rPr>
              <a:t> — code (mims-harvard/PROTON, MIT) + weights (HuggingFace) + NeuroKG (Harvard Dataverse). No licensing friction.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100" b="1">
                <a:solidFill>
                  <a:srgbClr val="9C02FA"/>
                </a:solidFill>
                <a:latin typeface="Poppins"/>
              </a:rPr>
              <a:t>•  PROTON install on macOS ARM64 — impractical</a:t>
            </a:r>
            <a:r>
              <a:rPr sz="1100">
                <a:solidFill>
                  <a:srgbClr val="1A1A24"/>
                </a:solidFill>
                <a:latin typeface="Poppins"/>
              </a:rPr>
              <a:t> — DGL ships no Apple-Silicon wheels; from-source compile ~1 hr, disk at 96 %. Eval needs Linux or AWS g5.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100" b="1">
                <a:solidFill>
                  <a:srgbClr val="9C02FA"/>
                </a:solidFill>
                <a:latin typeface="Poppins"/>
              </a:rPr>
              <a:t>•  Boltz-2 — pilot launched then cancelled at $0.11</a:t>
            </a:r>
            <a:r>
              <a:rPr sz="1100">
                <a:solidFill>
                  <a:srgbClr val="1A1A24"/>
                </a:solidFill>
                <a:latin typeface="Poppins"/>
              </a:rPr>
              <a:t> — g5.xlarge spun up, volume attached, killed on direction. Both Boltz-2 and PROTON queue for the same AWS g5 when AWS is back on.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100" b="1">
                <a:solidFill>
                  <a:srgbClr val="9C02FA"/>
                </a:solidFill>
                <a:latin typeface="Poppins"/>
              </a:rPr>
              <a:t>•  Planned PROTON eval (when AWS is back)</a:t>
            </a:r>
            <a:r>
              <a:rPr sz="1100">
                <a:solidFill>
                  <a:srgbClr val="1A1A24"/>
                </a:solidFill>
                <a:latin typeface="Poppins"/>
              </a:rPr>
              <a:t> — (i) embed CRISPR-N panel, compare NN-recall vs MAMMAL/ESM-2; (ii) drug-target link prediction for Nav1.8/mTOR; (iii) hypothesis generation on one Quiver CRISPR-N hit.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Border"/>
          <p:cNvSpPr/>
          <p:nvPr/>
        </p:nvSpPr>
        <p:spPr>
          <a:xfrm>
            <a:off x="150876" y="630936"/>
            <a:ext cx="8833104" cy="408051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4605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Chip"/>
          <p:cNvSpPr txBox="1">
            <a:spLocks/>
          </p:cNvSpPr>
          <p:nvPr/>
        </p:nvSpPr>
        <p:spPr>
          <a:xfrm>
            <a:off x="196514" y="211211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1000" b="1">
                <a:solidFill>
                  <a:srgbClr val="7300BF"/>
                </a:solidFill>
                <a:latin typeface="Poppins"/>
              </a:rPr>
              <a:t>MAMMAL</a:t>
            </a:r>
          </a:p>
        </p:txBody>
      </p:sp>
      <p:sp>
        <p:nvSpPr>
          <p:cNvPr id="12" name="Topic"/>
          <p:cNvSpPr txBox="1"/>
          <p:nvPr/>
        </p:nvSpPr>
        <p:spPr>
          <a:xfrm>
            <a:off x="1210000" y="225000"/>
            <a:ext cx="69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/>
              </a:rPr>
              <a:t>What changed vs going-in beliefs</a:t>
            </a:r>
          </a:p>
        </p:txBody>
      </p:sp>
      <p:sp>
        <p:nvSpPr>
          <p:cNvPr id="13" name="SlideNum"/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00000000000D}" type="slidenum">
              <a:rPr lang="en-US" sz="700" dirty="0">
                <a:latin typeface="Poppins"/>
              </a:rPr>
              <a:t>12</a:t>
            </a:fld>
            <a:endParaRPr lang="en-US" sz="700" dirty="0">
              <a:latin typeface="Poppin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0876" y="750936"/>
          <a:ext cx="7955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Poppins"/>
                        </a:rPr>
                        <a:t>Prior belief</a:t>
                      </a:r>
                    </a:p>
                  </a:txBody>
                  <a:tcPr marL="54864" marR="54864" marT="27432" marB="27432">
                    <a:solidFill>
                      <a:srgbClr val="7300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Poppins"/>
                        </a:rPr>
                        <a:t>Updated reading</a:t>
                      </a:r>
                    </a:p>
                  </a:txBody>
                  <a:tcPr marL="54864" marR="54864" marT="27432" marB="27432">
                    <a:solidFill>
                      <a:srgbClr val="730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24"/>
                          </a:solidFill>
                          <a:latin typeface="Poppins"/>
                        </a:rPr>
                        <a:t>Nav fails because BindingDB has no Nav → close the gap = done.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24"/>
                          </a:solidFill>
                          <a:latin typeface="Poppins"/>
                        </a:rPr>
                        <a:t>True but insufficient. The high end is bimodal; data volume alone doesn't predict success.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24"/>
                          </a:solidFill>
                          <a:latin typeface="Poppins"/>
                        </a:rPr>
                        <a:t>Off-the-shelf alternatives might rescue Nav (ConPLex).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24"/>
                          </a:solidFill>
                          <a:latin typeface="Poppins"/>
                        </a:rPr>
                        <a:t>No off-the-shelf alternative beats MAMMAL on our targets. Boltz-2 is the only remaining unknown.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24"/>
                          </a:solidFill>
                          <a:latin typeface="Poppins"/>
                        </a:rPr>
                        <a:t>MAMMAL is data-suited on rich targets like mTOR.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51D3F"/>
                          </a:solidFill>
                          <a:latin typeface="Poppins"/>
                        </a:rPr>
                        <a:t>mTOR is the next BRAF. Truncation falsified. Drop from any pitch.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24"/>
                          </a:solidFill>
                          <a:latin typeface="Poppins"/>
                        </a:rPr>
                        <a:t>MAMMAL ClinTox covers tox de-risking.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24"/>
                          </a:solidFill>
                          <a:latin typeface="Poppins"/>
                        </a:rPr>
                        <a:t>ClinTox dataset is the wrong endpoint. ADMET-AI DILI is the replacement (TPR 0.83).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24"/>
                          </a:solidFill>
                          <a:latin typeface="Poppins"/>
                        </a:rPr>
                        <a:t>MAMMAL embeddings beat ESM-2 → Sapphire layer = MAMMAL.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24"/>
                          </a:solidFill>
                          <a:latin typeface="Poppins"/>
                        </a:rPr>
                        <a:t>Parity, not superiority. ESM-2-650M (MIT, open) ties on the canonical panel.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24"/>
                          </a:solidFill>
                          <a:latin typeface="Poppins"/>
                        </a:rPr>
                        <a:t>BBBP head is reliable.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24"/>
                          </a:solidFill>
                          <a:latin typeface="Poppins"/>
                        </a:rPr>
                        <a:t>Asymmetric. "No" is perfect; "yes" marginally above base rate. Soft positive flag, hard negative gate.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600" b="0" i="0">
                <a:solidFill>
                  <a:srgbClr val="FFFFFF"/>
                </a:solidFill>
                <a:latin typeface="Poppins"/>
              </a:rPr>
              <a:t>docs/meeting_followup_report.md  ·  full detail in results/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7300BF"/>
      </a:dk2>
      <a:lt2>
        <a:srgbClr val="9C02FA"/>
      </a:lt2>
      <a:accent1>
        <a:srgbClr val="CAA1FF"/>
      </a:accent1>
      <a:accent2>
        <a:srgbClr val="C20CA9"/>
      </a:accent2>
      <a:accent3>
        <a:srgbClr val="FF85FF"/>
      </a:accent3>
      <a:accent4>
        <a:srgbClr val="FEEBFF"/>
      </a:accent4>
      <a:accent5>
        <a:srgbClr val="F51D3F"/>
      </a:accent5>
      <a:accent6>
        <a:srgbClr val="F9788B"/>
      </a:accent6>
      <a:hlink>
        <a:srgbClr val="0097A7"/>
      </a:hlink>
      <a:folHlink>
        <a:srgbClr val="0097A7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5651</TotalTime>
  <Words>1330</Words>
  <Application>Microsoft Macintosh PowerPoint</Application>
  <PresentationFormat>On-screen Show (16:9)</PresentationFormat>
  <Paragraphs>187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Poppins</vt:lpstr>
      <vt:lpstr>Poppins Medium</vt:lpstr>
      <vt:lpstr>Poppins SemiBold</vt:lpstr>
      <vt:lpstr>Office Theme</vt:lpstr>
      <vt:lpstr>MAMMAL Follow-up since 6/5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Grooms</dc:creator>
  <cp:lastModifiedBy>Rohan Arya Gondi</cp:lastModifiedBy>
  <cp:revision>74</cp:revision>
  <dcterms:created xsi:type="dcterms:W3CDTF">2025-04-22T21:23:48Z</dcterms:created>
  <dcterms:modified xsi:type="dcterms:W3CDTF">2026-06-07T20:23:57Z</dcterms:modified>
</cp:coreProperties>
</file>