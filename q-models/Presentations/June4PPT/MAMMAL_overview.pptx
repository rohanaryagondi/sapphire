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87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uiver_logo_slid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65760"/>
            <a:ext cx="1920240" cy="1678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16916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Evaluating IBM MAMMAL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Quiver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29768" y="3017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Rohan Arya Gondi</a:t>
            </a:r>
            <a:endParaRPr lang="en-US" sz="1800" dirty="0"/>
          </a:p>
        </p:txBody>
      </p:sp>
      <p:pic>
        <p:nvPicPr>
          <p:cNvPr id="7" name="Image 1" descr="quiver_emblem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Context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Foundation model, 458M params</a:t>
            </a: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IBM biomedical model biomed.omics.bl.sm.ma-ted-458m.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3 modalities, 3 input types</a:t>
            </a: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proteins (amino-acid sequence), small molecules (SMILES string), single-cell gene expression (a cell's ranked gene-expression profile — not an individual gene symbol). Trained on 2B+ samples.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One model, many tasks</a:t>
            </a: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prompt syntax that does classify / regress / generate, within or across modalities.</a:t>
            </a:r>
            <a:endParaRPr lang="en-US" sz="1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Base model + 9 task heads</a:t>
            </a: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the paper's antibody-design &amp; PPI-generation heads are not public.</a:t>
            </a:r>
            <a:endParaRPr lang="en-US" sz="16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I've done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Verified the paper’s benchmarks </a:t>
            </a:r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Tested the model across the board </a:t>
            </a:r>
            <a:r>
              <a:rPr lang="en-US" sz="1600" dirty="0">
                <a:latin typeface="Poppins" pitchFamily="34" charset="0"/>
                <a:ea typeface="Poppins" pitchFamily="34" charset="-122"/>
                <a:cs typeface="Poppins" pitchFamily="34" charset="-120"/>
              </a:rPr>
              <a:t>including on the Nav family</a:t>
            </a:r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Built the Quiver MAMMAL UI</a:t>
            </a:r>
            <a:r>
              <a:rPr lang="en-US" sz="16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standalone, runnable package; a technical user can clone it and run queries within ~2 hrs (env + ~12 GB model download). Making it usable for non-technical users would take additional work.</a:t>
            </a:r>
          </a:p>
          <a:p>
            <a:pPr>
              <a:lnSpc>
                <a:spcPct val="104000"/>
              </a:lnSpc>
            </a:pPr>
            <a:r>
              <a:rPr lang="en-US" sz="16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Quantified fine-tuning costs</a:t>
            </a:r>
            <a:endParaRPr lang="en-US" sz="1600" dirty="0">
              <a:solidFill>
                <a:srgbClr val="1A1A24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>
              <a:lnSpc>
                <a:spcPct val="104000"/>
              </a:lnSpc>
            </a:pPr>
            <a:endParaRPr lang="en-US" sz="16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13232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it’s Good 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001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 / gene-family embeddings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embeds a gene via its protein sequence (gene symbol → sequence) and groups same-family targets together: right family retrieved 92% of the time, beating ESM-2 650M's 84%. For CRISPR-N it clusters the panel's perturbed genes by protein family (kinases, GPCRs, ion channels…) from sequence alone — a prior to organize/prioritize the panel, complementary to the functional ephys signature, not a substitute. Clean for kinases/GPCRs; heterogeneous families (E3 ligases) don't separate.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 solubility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predicts at AUROC 0.83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TCR–epitope binding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does a T-cell receptor bind a given epitope? AUROC 0.93, calibrated. Immuno-oncology, peripheral to CNS.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Protein–protein interaction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do two proteins interact? Paper-validated; our spot check reads P≈0.95. 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BBB penetrance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AUROC 0.97, but it has a high false positive rate (catches only 70% of non-penetrant drugs) and gives a hard yes/no, so a "crosses" call is a soft positive, never a rule-out.</a:t>
            </a:r>
            <a:endParaRPr lang="en-US" sz="13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86384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it’s Bad 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Drug–target binding (DTI)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not a single-target binding oracle: on one target, binders score no better than random decoys (Nav1.8, mTOR); only coarse cross-target ranking (Spearman 0.43); suzetrigine→Nav1.8 fails. Big issue here is that the head only sees the first 1250 aa, Nav1.8 gets partially read. 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Clinical toxicity (ClinTox)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memorizes its training toxics: 0% sensitivity to external ones (misses cerivastatin, terfenadine, thalidomide). 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Molecule generation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span-infill only: grammar-valid analogs, 1/8 exact recovery, no de-novo design. The paper's design heads aren't public.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Cross-modal embeddings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protein &amp; SMILES vectors are near-orthogonal (cosine 0.08). No shared space where a target and its ligands are neighbors. Bad for Sapphire integration.</a:t>
            </a:r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FDA approval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~94% of the benchmark is positive, so an "approved" call carries little information. </a:t>
            </a:r>
            <a:endParaRPr lang="en-US" sz="13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2920" y="1180000"/>
          <a:ext cx="8138160" cy="321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4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Poppins"/>
                        </a:rPr>
                        <a:t>Subtype</a:t>
                      </a:r>
                    </a:p>
                  </a:txBody>
                  <a:tcPr marL="82296" marR="54864" marT="18288" marB="18288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oppins"/>
                        </a:rPr>
                        <a:t>Suzetrigine (full)</a:t>
                      </a:r>
                    </a:p>
                  </a:txBody>
                  <a:tcPr marL="82296" marR="54864" marT="18288" marB="18288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oppins"/>
                        </a:rPr>
                        <a:t>Suzetrigine (trunc. to 1250aa)</a:t>
                      </a:r>
                    </a:p>
                  </a:txBody>
                  <a:tcPr marL="82296" marR="54864" marT="18288" marB="18288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oppins"/>
                        </a:rPr>
                        <a:t>Vixotrigine (full)</a:t>
                      </a:r>
                    </a:p>
                  </a:txBody>
                  <a:tcPr marL="82296" marR="54864" marT="18288" marB="18288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Poppins"/>
                        </a:rPr>
                        <a:t>Vixotrigine (trunc. to 1250aa)</a:t>
                      </a:r>
                    </a:p>
                  </a:txBody>
                  <a:tcPr marL="82296" marR="54864" marT="18288" marB="18288" anchor="ctr">
                    <a:solidFill>
                      <a:srgbClr val="9C0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Nav1.1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7.36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7.08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7.25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7.32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Nav1.2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7.39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7.21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7.34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7.46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Nav1.3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7.53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7.39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7.39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Nav1.4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7.53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7.02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7.56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6.84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Nav1.5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7.46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7.07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7.42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7.34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Nav1.6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7.18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7.17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7.18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Nav1.7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7.63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7.17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9C02FA"/>
                          </a:solidFill>
                          <a:latin typeface="Poppins"/>
                        </a:rPr>
                        <a:t>7.30  ◀</a:t>
                      </a:r>
                    </a:p>
                  </a:txBody>
                  <a:tcPr marL="82296" marR="54864" marT="18288" marB="18288"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6.94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9C02FA"/>
                          </a:solidFill>
                          <a:latin typeface="Poppins"/>
                        </a:rPr>
                        <a:t>7.66  ◀</a:t>
                      </a:r>
                    </a:p>
                  </a:txBody>
                  <a:tcPr marL="82296" marR="54864" marT="18288" marB="18288"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7.00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7.48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7.25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24"/>
                          </a:solidFill>
                          <a:latin typeface="Poppins"/>
                        </a:rPr>
                        <a:t>Nav1.9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7.22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7.27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7.30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24"/>
                          </a:solidFill>
                          <a:latin typeface="Poppins"/>
                        </a:rPr>
                        <a:t>7.18</a:t>
                      </a:r>
                    </a:p>
                  </a:txBody>
                  <a:tcPr marL="82296" marR="54864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901" name="Rounded Rectangle 1"/>
          <p:cNvSpPr/>
          <p:nvPr/>
        </p:nvSpPr>
        <p:spPr>
          <a:xfrm>
            <a:off x="411480" y="310896"/>
            <a:ext cx="7863840" cy="566928"/>
          </a:xfrm>
          <a:prstGeom prst="roundRect">
            <a:avLst/>
          </a:prstGeom>
          <a:noFill/>
          <a:ln w="19050">
            <a:solidFill>
              <a:srgbClr val="9C0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25400" rIns="127000" bIns="25400" rtlCol="0" anchor="ctr"/>
          <a:lstStyle/>
          <a:p>
            <a:pPr algn="l"/>
            <a:r>
              <a:rPr sz="2200" b="1">
                <a:solidFill>
                  <a:srgbClr val="1A1A24"/>
                </a:solidFill>
                <a:latin typeface="Poppins"/>
              </a:rPr>
              <a:t>Predicted pKD across Nav subtypes</a:t>
            </a:r>
          </a:p>
        </p:txBody>
      </p:sp>
      <p:sp>
        <p:nvSpPr>
          <p:cNvPr id="902" name="TextBox 7"/>
          <p:cNvSpPr txBox="1"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6A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10896"/>
            <a:ext cx="8321040" cy="566928"/>
          </a:xfrm>
          <a:prstGeom prst="roundRect">
            <a:avLst/>
          </a:prstGeom>
          <a:noFill/>
          <a:ln w="19050">
            <a:solidFill>
              <a:srgbClr val="9C0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sz="1800" b="1" dirty="0">
                <a:solidFill>
                  <a:srgbClr val="1A1A24"/>
                </a:solidFill>
                <a:latin typeface="Poppins"/>
              </a:rPr>
              <a:t>Fine-tune data &amp; cost</a:t>
            </a:r>
            <a:r>
              <a:rPr lang="en-US" sz="1800" b="1" dirty="0">
                <a:solidFill>
                  <a:srgbClr val="1A1A24"/>
                </a:solidFill>
                <a:latin typeface="Poppins"/>
              </a:rPr>
              <a:t>:</a:t>
            </a:r>
            <a:r>
              <a:rPr sz="1800" b="1" dirty="0">
                <a:solidFill>
                  <a:srgbClr val="1A1A24"/>
                </a:solidFill>
                <a:latin typeface="Poppins"/>
              </a:rPr>
              <a:t> public</a:t>
            </a:r>
            <a:r>
              <a:rPr lang="en-US" sz="1800" b="1" dirty="0">
                <a:solidFill>
                  <a:srgbClr val="1A1A24"/>
                </a:solidFill>
                <a:latin typeface="Poppins"/>
              </a:rPr>
              <a:t>ly available</a:t>
            </a:r>
            <a:r>
              <a:rPr sz="1800" b="1" dirty="0">
                <a:solidFill>
                  <a:srgbClr val="1A1A24"/>
                </a:solidFill>
                <a:latin typeface="Poppins"/>
              </a:rPr>
              <a:t> heads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96112"/>
          <a:ext cx="8229600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Task (head)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Dataset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# train + 1 example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Cost (1× T4)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Quiver fit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Poppins"/>
                        </a:rPr>
                        <a:t>Per-target binder (PGK2)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1 DEL/ASMS screen (CACHE-#7)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Poppins"/>
                        </a:rPr>
                        <a:t>~1,388 — molecule + hit/non-hit (binary)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GPU-min · ~$0.5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★ THE Quiver analog — one screen's worth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Poppins"/>
                        </a:rPr>
                        <a:t>Per-target binder (WDR91)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WDR91 ASMS hits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1A24"/>
                          </a:solidFill>
                          <a:latin typeface="Poppins"/>
                        </a:rPr>
                        <a:t>undisclosed (public DEL ≤375,595) — molecule + hit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GPU-min→hrs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★ same analog; size not public</a:t>
                      </a:r>
                    </a:p>
                  </a:txBody>
                  <a:tcPr marL="64008" marR="45720" marT="9144" marB="9144" anchor="ctr">
                    <a:solidFill>
                      <a:srgbClr val="FEE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BBB penetrance (BBBP)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MoleculeNet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2,039 — molecule + penetrant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~$1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cheapest recipe; we reproduced it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Clinical toxicity (ClinTox)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MoleculeNet / TDC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1,484 — molecule + toxic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~$1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binder-head shape; head useless (memorized)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FDA approval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ClinTox/FDA set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1,484 — molecule + approved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~$1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 value (~94% positive)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Protein solubility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DeepSol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69,420 — protein + soluble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GPU-hrs · ~$4–8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modest (expression/biologics)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TCR–epitope binding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Weber (TDC)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47,182 — (TCR, epitope) + bind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GPU-hrs · ~$3–8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 (immuno-oncology)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Drug–target binding — cold-split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BindingDB Kd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52,284 — (protein, drug) + pKd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GPU-hrs→days · ~$20–60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high interest; weak result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Drug–target binding — PEER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BindingDB Kd (PEER)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7,900 — (protein, drug) + pKd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GPU-hrs · ~$5–20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the one we use; Spearman 0.43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6A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310896"/>
            <a:ext cx="8321040" cy="566928"/>
          </a:xfrm>
          <a:prstGeom prst="roundRect">
            <a:avLst/>
          </a:prstGeom>
          <a:noFill/>
          <a:ln w="19050">
            <a:solidFill>
              <a:srgbClr val="9C0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rtlCol="0" anchor="ctr"/>
          <a:lstStyle/>
          <a:p>
            <a:pPr algn="ctr"/>
            <a:r>
              <a:rPr sz="1800" b="1" dirty="0">
                <a:solidFill>
                  <a:srgbClr val="1A1A24"/>
                </a:solidFill>
                <a:latin typeface="Poppins"/>
              </a:rPr>
              <a:t>Fine-tune data &amp; cost</a:t>
            </a:r>
            <a:r>
              <a:rPr lang="en-US" sz="1800" b="1" dirty="0">
                <a:solidFill>
                  <a:srgbClr val="1A1A24"/>
                </a:solidFill>
                <a:latin typeface="Poppins"/>
              </a:rPr>
              <a:t>:</a:t>
            </a:r>
            <a:r>
              <a:rPr sz="1800" b="1" dirty="0">
                <a:solidFill>
                  <a:srgbClr val="1A1A24"/>
                </a:solidFill>
                <a:latin typeface="Poppins"/>
              </a:rPr>
              <a:t> paper-only heads (no public weights)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8229600" cy="35112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Task (head)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Dataset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# train + 1 example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Cost (1× T4)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Poppins"/>
                        </a:rPr>
                        <a:t>Quiver fit</a:t>
                      </a:r>
                    </a:p>
                  </a:txBody>
                  <a:tcPr marL="64008" marR="45720" marT="9144" marB="9144" anchor="ctr">
                    <a:solidFill>
                      <a:srgbClr val="9C0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PPI ΔΔG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SKEMPI S1131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1,131 — point mutation + ΔΔG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GPU-min→1hr · ~$0.5–1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 (sequence-only)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Cell type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Zheng68k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68,579 — cell + type (11-class)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GPU-hrs · ~$5–10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Cancer-drug response 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GDSC1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177,310 — (cell-line, drug) + IC50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GPU-days · multi-GPU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medium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Cancer-drug response 2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GDSC2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92,703 — (cell-line, drug) + IC50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GPU-days · multi-GPU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medium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Cancer-drug response 3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DeepCDR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107,446 — (cell-line, drug) + IC50 (number)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GPU-days · multi-GPU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medium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Antibody infilling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OAS / antibody set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undisclosed — antibody w/ masked CDRH3 span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n/d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 (design head)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AbAg binding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antibody–antigen benchmark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undisclosed — (antibody, antigen) + bind (binary)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A1A24"/>
                          </a:solidFill>
                          <a:latin typeface="Poppins"/>
                        </a:rPr>
                        <a:t>n/d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55556A"/>
                          </a:solidFill>
                          <a:latin typeface="Poppins"/>
                        </a:rPr>
                        <a:t>low</a:t>
                      </a:r>
                    </a:p>
                  </a:txBody>
                  <a:tcPr marL="64008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5556A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86384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else we could try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Binder triage (our gap)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ConPLex — a contrastive protein/drug model purpose-built for single-target binder-vs-decoy, exactly where MAMMAL is chance. Open, runs free on a laptop.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Structure + affinity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Boltz-2 — AlphaFold3-class co-folding with a near-FEP binding-affinity head. Open (MIT). Does the two things MAMMAL can't: real structure and real affinity.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Protein embeddings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ESM-C, Meta's ESM-2 successor — re-test our family clustering before assuming MAMMAL stays the embedding layer.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De-risking / ADMET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ADMET-AI — the #1 public ADMET model, 41 calibrated endpoints. A real replacement for MAMMAL's unusable ClinTox.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Shared protein–ligand space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Nothing production-ready yet (MolX, LigUnity are 2026 previews). Pair Boltz-2 + ESM-C instead.</a:t>
            </a:r>
            <a:endParaRPr lang="en-US" sz="13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10896"/>
            <a:ext cx="7863840" cy="566928"/>
          </a:xfrm>
          <a:prstGeom prst="roundRect">
            <a:avLst>
              <a:gd name="adj" fmla="val 16129"/>
            </a:avLst>
          </a:prstGeom>
          <a:ln w="19050">
            <a:solidFill>
              <a:srgbClr val="9C02FA"/>
            </a:solidFill>
          </a:ln>
        </p:spPr>
        <p:txBody>
          <a:bodyPr wrap="square" lIns="25400" tIns="127000" rIns="127000" bIns="2540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Recommended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1170432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Start with ConPLex on our targets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Local, free, about an hour. The cheapest shot at the headline question: does anything beat MAMMAL on Nav1.8 / mTOR binder triage?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Then Boltz-2 on a Nav1.8 / mTOR domain construct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GPU, about $0.30–1. Pipeline already proven on AWS: Boltz-2 affinity ran on a cheap T4 — propranolol→ADRB2 scored 0.997 in ~7 min for ~$0.30.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Re-check ESM-C, add ADMET-AI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Both local and free — confirm or replace MAMMAL's two keepers: family embeddings and de-risking.</a:t>
            </a:r>
            <a:endParaRPr lang="en-US" sz="13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  The bar stays the same</a:t>
            </a:r>
            <a:r>
              <a:rPr lang="en-US" sz="1300" dirty="0">
                <a:solidFill>
                  <a:srgbClr val="1A1A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 challenger wins only if it gives triage signal on a Quiver target where MAMMAL is chance. The moat stays V1-T + functional trace data.</a:t>
            </a:r>
            <a:endParaRPr lang="en-US" sz="1300" dirty="0"/>
          </a:p>
        </p:txBody>
      </p:sp>
      <p:pic>
        <p:nvPicPr>
          <p:cNvPr id="4" name="Image 0" descr="quiver_emblem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90288"/>
            <a:ext cx="365760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46177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6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972</Words>
  <Application>Microsoft Office PowerPoint</Application>
  <PresentationFormat>On-screen Show (16:9)</PresentationFormat>
  <Paragraphs>180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Rohan Arya Gondi</cp:lastModifiedBy>
  <cp:revision>5</cp:revision>
  <dcterms:created xsi:type="dcterms:W3CDTF">2026-06-02T17:16:38Z</dcterms:created>
  <dcterms:modified xsi:type="dcterms:W3CDTF">2026-06-03T16:32:45Z</dcterms:modified>
</cp:coreProperties>
</file>