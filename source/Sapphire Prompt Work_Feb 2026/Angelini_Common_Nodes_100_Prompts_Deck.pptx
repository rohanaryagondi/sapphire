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143000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143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69441" y="173736"/>
            <a:ext cx="10509199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Sapphire AI Platform: 100 Prompts for the Quiver-Angelini Common Nodes Collaboration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Treating Many Genetic Epilepsies through the Identification of Druggable Common Nodes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11247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FF0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Collaboration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Quiver Bioscience and Angelini Pharma partnership to screen 131 developmental epileptic encephalopathy (DEE) genes using Quiver’s Optopatch platform in iPSC-derived NGN2 cortical excitatory neurons.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0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1.1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CRISPRn loss-of-function screen of 131 DEE genes to generate functional excitability fingerprints, group genes by shared neuronal phenotypes into “functional clusters” (common nodes).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0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1.2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Bulk RNA-seq characterization of 50 selected DEE gene knockouts to identify shared transcriptional signatures and nominate candidate druggable pathways and gene targets per cluster.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0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1.3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Drug target identification via annotated pharmacology and CRISPRn perturbation screens, plus NCE identification via phenotypic compound library screens (Quiver 14k + Angelini libraries).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0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Role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These 100 prompts are designed for querying the Sapphire GraphDB with newly generated Angelini collaboration data. Each prompt executes through Sapphire’s 6-stage pipeline workflow.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507492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5148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Screening &amp; Clustering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5440680"/>
            <a:ext cx="3291840" cy="0"/>
          </a:xfrm>
          <a:prstGeom prst="line">
            <a:avLst/>
          </a:prstGeom>
          <a:noFill/>
          <a:ln w="12700">
            <a:solidFill>
              <a:srgbClr val="9C02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486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Sections 1–2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Prompts 1–30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DEE gene characterization,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functional fingerprints,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 node identification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97680" y="507492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4840" y="5148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Transcriptomics &amp; Targets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34840" y="5440680"/>
            <a:ext cx="3291840" cy="0"/>
          </a:xfrm>
          <a:prstGeom prst="line">
            <a:avLst/>
          </a:prstGeom>
          <a:noFill/>
          <a:ln w="12700">
            <a:solidFill>
              <a:srgbClr val="C20CA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34840" y="5486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Sections 3–5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Prompts 31–75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RNA-seq analysis,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drug target nomination,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compound screening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138160" y="507492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5148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&amp; Integration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75320" y="5440680"/>
            <a:ext cx="3291840" cy="0"/>
          </a:xfrm>
          <a:prstGeom prst="line">
            <a:avLst/>
          </a:prstGeom>
          <a:noFill/>
          <a:ln w="12700">
            <a:solidFill>
              <a:srgbClr val="F51D3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75320" y="5486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Sections 6–8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Prompts 76–100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stratification,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cross-platform validation,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optimization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097280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0972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23721" y="173736"/>
            <a:ext cx="10554919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DEE Gene Functional Screening &amp; Characterization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Prompts 1–15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8549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Prompt Focus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Description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131 DEE gene list retrieval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with OMIM, ClinVar, UniProt for clinical syndromes, inheritance, and protein function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Optopatch functional fingerprint extraction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Rank all 131 genes by deviation from wild-type firing parameters (AP frequency, amplitude, waveform kinetics)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GoF vs. LoF phenotype classification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hyperexcitability vs. hypoexcitability phenotypes with gnomAD constraint metrics and channelopathy mechanisms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Null-phenotype gene identification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silent knockouts with Allen Brain Atlas and Human Cell Atlas to check NGN2 neuron expression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Electrophysiology parameter extraction &amp; PCA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Extract full Optopatch parameter set (spike rate, amplitude, rheobase, AHP) and map functional fingerprint space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CDKL5/MECP2 cross-platform validation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Optopatch fingerprints with published data from iPSC neurons, mouse models, and heterologous systems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 waveform morphology mapping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genes altering spike width, rise time, decay kinetics; map to ion channel subtypes via GO annotations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Spontaneous firing &amp; pharmacology targets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firing-frequency-altering genes with IUPHAR/BPS for existing modulators (agonists, antagonists, allosteric)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Ion channel family clustering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intra-family phenotypic similarity (SCN sodium vs. KCNQ potassium) for functional co-clustering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CRISPRn screen QC metrics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Retrieve gRNA efficiency, viability, Z-prime, CV; flag genes with data quality concerns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11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Dose-dependent knockout effects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heterozygous vs. homozygous knockdown with corresponding Optopatch parameter changes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12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Subcellular localization vs. phenotype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Categorize genes by HPA localization (membrane, cytoplasmic, nuclear, synaptic); predict phenotype direction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13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Neuronal maturation trajectory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early vs. late time-point excitability to detect genes affecting developmental timing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14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Complex/biphasic excitability phenotypes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multi-parameter signatures suggesting convergent effects on multiple ion conductances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15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Fingerprint reproducibility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Calculate inter-well/inter-plate concordance; identify most robust signatures for drug screening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097280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0972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23721" y="173736"/>
            <a:ext cx="10554919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Functional Clustering &amp; Common Node Identification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Prompts 16–30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8549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Prompt Focus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Description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16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Hierarchical clustering of fingerprints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optimal cluster count using silhouette analysis, gap statistic, and biological interpretability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17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Cluster-to-clinical syndrome correlation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 clusters to Dravet, West, Lennox-Gastaut syndromes using OMIM and Orphanet phenotype data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18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Common node characterization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Define each node by signature Optopatch parameters: firing rate, waveform shape, threshold, adaptation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Cluster-to-pathway mapping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 cluster genes to KEGG, Reactome, GO Biological Process pathways; perform enrichment analysis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Protein-protein interaction mapping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Retrieve PPIs from STRING, BioGRID, IntAct; test whether co-clustered genes physically interact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21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Bridge gene identification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Find genes at cluster boundaries participating in multiple signaling pathways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22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Optopatch vs. clinical clustering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molecular clusters with ILAE clinical features (seizure type, onset age, EEG, developmental trajectory)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23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Master regulator identification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Use TRRUST, RegNetwork, IPA to identify upstream TFs or signaling hubs per cluster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24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Protein domain enrichment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 whether InterPro/Pfam domain architecture predicts functional co-clustering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25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Clinical trials landscape per cluster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Query ClinicalTrials.gov for trials targeting cluster genes; assess therapeutic concentration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26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Expression &amp; developmental enrichment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 cluster enrichment for compartments, cell types, developmental windows via BrainSpan, Allen Atlas, HPA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27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Druggability scoring per node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Integrate DGIdb, Open Targets, ChEMBL tractability predictions per cluster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28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Cluster robustness testing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 whether cluster structure is preserved at different CRISPRn knockdown efficiency levels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29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Co-expression module comparison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Angelini clusters with WGCNA modules from BrainSpan and GTEx brain transcriptome data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30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Outlier gene investigation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Investigate genes not fitting any cluster: unique mechanisms, technical artifacts, or novel nodes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097280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0972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23721" y="173736"/>
            <a:ext cx="10554919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RNA-seq Transcriptomic Analysis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Prompts 31–45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8549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Prompt Focus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Description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31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Differential expression profiling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Retrieve DEGs from 50 DEE knockouts; identify shared up/downregulated genes across perturbations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32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Pathway enrichment analysis (GSEA)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Apply MSigDB Hallmark, KEGG, Reactome gene sets to identify convergent pathway dysregulation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33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Transcription factor activity inference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Apply VIPER/DoRothEA regulon analysis to identify master regulator TFs altered within clusters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34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Connectivity Map therapeutic matching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DEGs with CMap/L1000 to find compounds with anti-correlated signatures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35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Shared molecular signatures → druggable pathways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Extract convergent signatures per cluster; map to DGIdb druggable pathways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36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Compensatory expression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Detect upregulation of paralogous genes or alternative pathway components post-knockout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37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Non-coding RNA dysregulation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lncRNAs and miRNAs consistently altered within clusters; map regulatory targets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38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WGCNA co-expression network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modules correlating with cluster membership or Optopatch excitability parameters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39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Patient iPSC concordance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CRISPRn signatures with published patient iPSC-neuron RNA-seq from GEO/SRA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40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Target expression specificity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Evaluate nominated targets across brain regions and cell types via Allen Brain Atlas, scRNA-seq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41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Alternative splicing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Detect splicing changes via DEXSeq/rMATS; identify post-transcriptional mechanisms per node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42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Synaptic transcriptome perturbation map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Quantify expression changes for all ion channels, receptors, synaptic genes per knockout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43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Multi-omics concordance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RNA-seq signatures with published proteomics/phosphoproteomics for overlapping genes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44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Pharmacodynamic biomarker discovery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cluster-specific expression changes for treatment response monitoring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45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Expression-to-function integration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Correlate RNA-seq DEGs with Optopatch parameter shifts; link molecular to functional changes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097280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0972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23721" y="173736"/>
            <a:ext cx="10554919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Drug Target Identification &amp; Validation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Prompts 46–60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8549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Prompt Focus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Description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46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Existing drug/compound inventory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Query Open Targets, ChEMBL, DrugBank for drugs targeting cluster genes by MoA and stage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47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Integrated target prioritization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Rank top 10 targets per cluster by druggability, centrality, expression, constraint, phenotype consistency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48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FAERS safety signal screening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targets with FDA adverse event data for neurological/psychiatric safety signals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49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Quiver 3k library compound matching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 annotated library compounds to cluster gene/pathway targets for Phase 1.3a screens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50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Drug repurposing via cluster signatures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Match cluster signatures to FDA-approved drug MoAs from DrugBank and TTD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51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ASO therapeutic feasibility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Evaluate ASO targeting based on gene structure, brain expression, and neurological ASO precedents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52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Gene therapy target assessment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with ASGCT trials and AAV tropism data for gene replacement/silencing feasibility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53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Allosteric modulator identification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Query IUPHAR/BPS and ChEMBL for modulators usable in Optopatch rescue validation assays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54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Structural druggability assessment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Retrieve PDB, cryo-EM, AlphaFold structures to assess binding site accessibility per target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55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Pharma pipeline competitive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with Cortellis/GlobalData for partnership opportunities and competitive landscape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56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Development risk stratification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Categorize clusters by existing clinical-stage targets vs. novel target space; prioritize by risk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57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Multi-target polypharmacology strategies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Query SEA, CARLSBAD for compounds with designed multi-target activity within common nodes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58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Small molecule vs. biologics modality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Analyze target class distribution (GPCRs, kinases, channels, PPIs) to assess intervention modality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59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Phase 1.3 validation strategy design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Design CRISPRn + pharmacological + Optopatch confirmation screen per nominated target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60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Intra-cluster divergent response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different rescue responses within clusters; correlate with molecular subtypes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097280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0972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23721" y="173736"/>
            <a:ext cx="10554919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Compound Screening &amp; NCE Identification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Prompts 61–75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8549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Prompt Focus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Description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61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14k library compound-cluster alignment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Match Quiver library annotations to cluster target classes and pathway mechanisms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62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Screening strategy optimization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Analyze Z-prime and S/N per cluster phenotype to prioritize HTS-amenable clusters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63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Hit compound identification &amp; ranking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compounds restoring WT fingerprints; rank by potency, selectivity, rescue breadth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64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Fingerprint-based target deconvolution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Match compound signatures to Quiver’s known target fingerprint database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65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Structure-activity relationship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Cluster hits by scaffold; correlate structural features with rescue potency/selectivity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66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Pan-cluster vs. cluster-selective hits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Classify compounds by cross-cluster vs. specific activity; assess therapeutic implications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67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ADMET property assessment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hits with SwissADME, pkCSM, admetSAR for CNS drug-likeness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68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IP landscape &amp; patent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Query Google Patents, Espacenet, USPTO for freedom-to-operate and patent opportunities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69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Angelini library unique matter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Characterize Angelini-specific hits not in Quiver library as novel chemical matter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70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Phenotypic vs. target-based comparison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hit rates and profiles between Optopatch phenotypic and target-based screening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71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FDA-approved drug hit identification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approved/advanced-stage hit compounds for immediate repurposing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72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Dose-response characterization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Characterize EC50, max efficacy, therapeutic window per compound-cluster pair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73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Computational target prediction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Apply SwissTargetPrediction, SEA, PharmMapper for MoA hypothesis generation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74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Toxicity database cross-reference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Screen hits against ToxCast, Tox21, eTOXsys for early safety liability detection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75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ASO target validation via CRISPRn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 whether genetic knockdown of predicted targets mimics compound rescue phenotype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097280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0972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23721" y="173736"/>
            <a:ext cx="10554919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Clinical Translation &amp; Patient Stratification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Prompts 76–85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8549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Prompt Focus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Description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76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Variant catalog &amp; population estimation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Query ClinVar, HGMD, gnomAD for pathogenic variants; estimate patient population per cluster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77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Natural history profiling per node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Retrieve seizure trajectories, milestones, mortality from cohort studies and ILAE classification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78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Genotype-phenotype by variant class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Determine if truncating vs. missense variants in same gene map to different clusters (Epi25, Epi4K, DDD)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79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Current treatment pattern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 FDA/EMA-approved seizure medications to clusters; assess pharmacological alignment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80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Molecular diagnostic stratification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Design genotype-to-common-node assignment strategy for newly diagnosed DEE patients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81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VUS functional prediction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Use Optopatch fingerprints to predict variant functional consequence for variants of uncertain significance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82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Clinical endpoint selection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seizure diary endpoints and outcome measures for cluster-specific trial design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83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Biofluid biomarker discovery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RNA-seq signatures with blood/CSF proteomics and metabolomics for PD markers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84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Precision vs. broad therapy assessment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nodes suited for precision medicine vs. shared downstream pathway therapies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1D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85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Clinical trial design modeling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 basket/umbrella/platform trial designs with sample size estimates per common node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097280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0972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23721" y="173736"/>
            <a:ext cx="10554919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Comparative &amp; Integrative Analyses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Prompts 86–95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8549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Prompt Focus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Description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86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Published screen concordance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Angelini clusters with published epilepsy functional genomics screens (Bhatt et al.)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87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Optopatch-MEA platform comparison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Integrate Optopatch data with MEA datasets for overlapping DEE knockouts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88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iPSC-neuron platform validation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CRISPRn LoF phenotypes with published patch-clamp variant-level data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89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Mouse model cross-species comparison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with IMPC and MGI phenotyping data; assess cluster conservation across species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90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Excitatory vs. inhibitory neuron comparison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NGN2 fingerprints with published inhibitory neuron data; test cell-type specificity of nodes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91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Multi-omic predictive modeling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Build transcriptomic-based classifier to predict cluster membership without functional screening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92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Novel scaffold identification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Compare Angelini hits with ChEMBL epilepsy bioactivity data; identify unique chemical matter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93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GWAS penetrance modifier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Integrate clusters with epilepsy GWAS data; identify common variants modifying penetrance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94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Framework extension to non-DEE epilepsy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 common node predictions on broader epilepsy genes from the Epilepsy Genetics Initiative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2F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95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Patient tissue proteomics validation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Cross-reference iPSC signatures with resected epileptic brain tissue proteomics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097280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0972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23721" y="173736"/>
            <a:ext cx="10554919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Platform Enhancement &amp; Future Applications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Prompts 96–100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8549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Prompt Focus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Description</a:t>
                      </a:r>
                      <a:endParaRPr lang="en-US" sz="9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A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96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Optopatch parameter optimization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Identify most informative parameters for cluster discrimination; optimize for future screens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97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Replicate power analysis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Determine minimum well replicates for reliable cluster assignment in next-gen campaigns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98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Automated cluster assignment pipeline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Design ML pipeline for auto-assigning new genes to existing or novel clusters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99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Pharmacological fingerprint database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Build reference database linking compound MoA to Optopatch response signatures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20CA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100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A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Target Product Profile generation</a:t>
                      </a:r>
                      <a:endParaRPr lang="en-US" sz="8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Generate comprehensive TPPs per common node integrating efficacy, safety, and commercial viability</a:t>
                      </a:r>
                      <a:endParaRPr lang="en-US" sz="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0800" marR="50800" marT="25400" marB="25400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2026-03-25T22:46:57Z</dcterms:created>
  <dcterms:modified xsi:type="dcterms:W3CDTF">2026-03-25T22:46:57Z</dcterms:modified>
</cp:coreProperties>
</file>